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</p:sldIdLst>
  <p:notesMasterIdLst>
    <p:notesMasterId r:id="rId19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notesMaster" Target="notesMasters/notesMaster1.xml"/><Relationship Id="rId20" Type="http://schemas.openxmlformats.org/officeDocument/2006/relationships/presProps" Target="presProps.xml"/><Relationship Id="rId21" Type="http://schemas.openxmlformats.org/officeDocument/2006/relationships/viewProps" Target="viewProps.xml"/><Relationship Id="rId22" Type="http://schemas.openxmlformats.org/officeDocument/2006/relationships/theme" Target="theme/theme1.xml"/><Relationship Id="rId23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0293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087E8B"/>
          </a:solidFill>
          <a:ln w="12700">
            <a:solidFill>
              <a:srgbClr val="087E8B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685800" y="566928"/>
            <a:ext cx="25603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9BF4FF"/>
                </a:solidFill>
              </a:rPr>
              <a:t>HabitFlow</a:t>
            </a:r>
            <a:endParaRPr lang="en-US" sz="1500" dirty="0"/>
          </a:p>
        </p:txBody>
      </p:sp>
      <p:sp>
        <p:nvSpPr>
          <p:cNvPr id="4" name="Text 2"/>
          <p:cNvSpPr/>
          <p:nvPr/>
        </p:nvSpPr>
        <p:spPr>
          <a:xfrm>
            <a:off x="685800" y="1755648"/>
            <a:ext cx="69494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dirty="0">
                <a:solidFill>
                  <a:srgbClr val="D5EEF1"/>
                </a:solidFill>
              </a:rPr>
              <a:t>Software Architecture Project</a:t>
            </a:r>
            <a:endParaRPr lang="en-US" sz="1900" dirty="0"/>
          </a:p>
        </p:txBody>
      </p:sp>
      <p:sp>
        <p:nvSpPr>
          <p:cNvPr id="5" name="Text 3"/>
          <p:cNvSpPr/>
          <p:nvPr/>
        </p:nvSpPr>
        <p:spPr>
          <a:xfrm>
            <a:off x="685800" y="2212848"/>
            <a:ext cx="79552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800" b="1" dirty="0">
                <a:solidFill>
                  <a:srgbClr val="FFFFFF"/>
                </a:solidFill>
              </a:rPr>
              <a:t>Habit Tracker App</a:t>
            </a:r>
            <a:endParaRPr lang="en-US" sz="3800" dirty="0"/>
          </a:p>
        </p:txBody>
      </p:sp>
      <p:sp>
        <p:nvSpPr>
          <p:cNvPr id="6" name="Text 4"/>
          <p:cNvSpPr/>
          <p:nvPr/>
        </p:nvSpPr>
        <p:spPr>
          <a:xfrm>
            <a:off x="713232" y="3063240"/>
            <a:ext cx="81381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D5EEF1"/>
                </a:solidFill>
              </a:rPr>
              <a:t>NestJS + PostgreSQL + Clean Architecture + microservice-style boundaries</a:t>
            </a:r>
            <a:endParaRPr lang="en-US" sz="1600" dirty="0"/>
          </a:p>
        </p:txBody>
      </p:sp>
      <p:sp>
        <p:nvSpPr>
          <p:cNvPr id="7" name="Shape 5"/>
          <p:cNvSpPr/>
          <p:nvPr/>
        </p:nvSpPr>
        <p:spPr>
          <a:xfrm>
            <a:off x="713232" y="4160520"/>
            <a:ext cx="5212080" cy="1143000"/>
          </a:xfrm>
          <a:prstGeom prst="roundRect">
            <a:avLst>
              <a:gd name="adj" fmla="val 6400"/>
            </a:avLst>
          </a:prstGeom>
          <a:solidFill>
            <a:srgbClr val="173642"/>
          </a:solidFill>
          <a:ln w="12700">
            <a:solidFill>
              <a:srgbClr val="D7E5E0">
                <a:alpha val="90000"/>
              </a:srgbClr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914400" y="4361688"/>
            <a:ext cx="4809744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2252B"/>
                </a:solidFill>
              </a:rPr>
              <a:t>Course Requirement Fit</a:t>
            </a:r>
            <a:endParaRPr lang="en-US" sz="1500" dirty="0"/>
          </a:p>
        </p:txBody>
      </p:sp>
      <p:sp>
        <p:nvSpPr>
          <p:cNvPr id="9" name="Text 7"/>
          <p:cNvSpPr/>
          <p:nvPr/>
        </p:nvSpPr>
        <p:spPr>
          <a:xfrm>
            <a:off x="914400" y="4773168"/>
            <a:ext cx="480974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150" dirty="0">
                <a:solidFill>
                  <a:srgbClr val="5D7078"/>
                </a:solidFill>
              </a:rPr>
              <a:t>Backend project using NestJS, documented architecture style, design patterns, report, presentation, GitHub repository, and frontend demo.</a:t>
            </a:r>
            <a:endParaRPr lang="en-US" sz="1150" dirty="0"/>
          </a:p>
        </p:txBody>
      </p:sp>
      <p:sp>
        <p:nvSpPr>
          <p:cNvPr id="10" name="Text 8"/>
          <p:cNvSpPr/>
          <p:nvPr/>
        </p:nvSpPr>
        <p:spPr>
          <a:xfrm>
            <a:off x="6629400" y="4370832"/>
            <a:ext cx="4206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Backend-first implementation with browser and Flutter clients</a:t>
            </a:r>
            <a:endParaRPr lang="en-US" sz="2000" dirty="0"/>
          </a:p>
        </p:txBody>
      </p:sp>
      <p:sp>
        <p:nvSpPr>
          <p:cNvPr id="11" name="Text 9"/>
          <p:cNvSpPr/>
          <p:nvPr/>
        </p:nvSpPr>
        <p:spPr>
          <a:xfrm>
            <a:off x="11109960" y="6355080"/>
            <a:ext cx="457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D7078"/>
                </a:solidFill>
              </a:rPr>
              <a:t>01</a:t>
            </a:r>
            <a:endParaRPr lang="en-US" sz="9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4F8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087E8B"/>
          </a:solidFill>
          <a:ln w="12700">
            <a:solidFill>
              <a:srgbClr val="087E8B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94360" y="347472"/>
            <a:ext cx="23774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087E8B"/>
                </a:solidFill>
              </a:rPr>
              <a:t>HabitFlow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594360" y="667512"/>
            <a:ext cx="74980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2252B"/>
                </a:solidFill>
              </a:rPr>
              <a:t>Team and Responsibility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640080" y="1417320"/>
            <a:ext cx="2743200" cy="1417320"/>
          </a:xfrm>
          <a:prstGeom prst="roundRect">
            <a:avLst>
              <a:gd name="adj" fmla="val 5161"/>
            </a:avLst>
          </a:prstGeom>
          <a:solidFill>
            <a:srgbClr val="FFFFFF"/>
          </a:solidFill>
          <a:ln w="12700">
            <a:solidFill>
              <a:srgbClr val="D7E5E0">
                <a:alpha val="90000"/>
              </a:srgbClr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841248" y="1618488"/>
            <a:ext cx="2340864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2252B"/>
                </a:solidFill>
              </a:rPr>
              <a:t>Backend Architecture</a:t>
            </a:r>
            <a:endParaRPr lang="en-US" sz="1500" dirty="0"/>
          </a:p>
        </p:txBody>
      </p:sp>
      <p:sp>
        <p:nvSpPr>
          <p:cNvPr id="7" name="Text 5"/>
          <p:cNvSpPr/>
          <p:nvPr/>
        </p:nvSpPr>
        <p:spPr>
          <a:xfrm>
            <a:off x="841248" y="2029968"/>
            <a:ext cx="2340864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150" dirty="0">
                <a:solidFill>
                  <a:srgbClr val="5D7078"/>
                </a:solidFill>
              </a:rPr>
              <a:t>NestJS module structure, application services, controllers, repository contracts.</a:t>
            </a:r>
            <a:endParaRPr lang="en-US" sz="1150" dirty="0"/>
          </a:p>
        </p:txBody>
      </p:sp>
      <p:sp>
        <p:nvSpPr>
          <p:cNvPr id="8" name="Shape 6"/>
          <p:cNvSpPr/>
          <p:nvPr/>
        </p:nvSpPr>
        <p:spPr>
          <a:xfrm>
            <a:off x="3611880" y="1417320"/>
            <a:ext cx="2743200" cy="1417320"/>
          </a:xfrm>
          <a:prstGeom prst="roundRect">
            <a:avLst>
              <a:gd name="adj" fmla="val 5161"/>
            </a:avLst>
          </a:prstGeom>
          <a:solidFill>
            <a:srgbClr val="FFFFFF"/>
          </a:solidFill>
          <a:ln w="12700">
            <a:solidFill>
              <a:srgbClr val="D7E5E0">
                <a:alpha val="90000"/>
              </a:srgbClr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3813048" y="1618488"/>
            <a:ext cx="2340864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2252B"/>
                </a:solidFill>
              </a:rPr>
              <a:t>Database &amp; Infrastructure</a:t>
            </a:r>
            <a:endParaRPr lang="en-US" sz="1500" dirty="0"/>
          </a:p>
        </p:txBody>
      </p:sp>
      <p:sp>
        <p:nvSpPr>
          <p:cNvPr id="10" name="Text 8"/>
          <p:cNvSpPr/>
          <p:nvPr/>
        </p:nvSpPr>
        <p:spPr>
          <a:xfrm>
            <a:off x="3813048" y="2029968"/>
            <a:ext cx="2340864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150" dirty="0">
                <a:solidFill>
                  <a:srgbClr val="5D7078"/>
                </a:solidFill>
              </a:rPr>
              <a:t>PostgreSQL schema, repository implementation, environment configuration, Docker Compose.</a:t>
            </a:r>
            <a:endParaRPr lang="en-US" sz="1150" dirty="0"/>
          </a:p>
        </p:txBody>
      </p:sp>
      <p:sp>
        <p:nvSpPr>
          <p:cNvPr id="11" name="Shape 9"/>
          <p:cNvSpPr/>
          <p:nvPr/>
        </p:nvSpPr>
        <p:spPr>
          <a:xfrm>
            <a:off x="6583680" y="1417320"/>
            <a:ext cx="2743200" cy="1417320"/>
          </a:xfrm>
          <a:prstGeom prst="roundRect">
            <a:avLst>
              <a:gd name="adj" fmla="val 5161"/>
            </a:avLst>
          </a:prstGeom>
          <a:solidFill>
            <a:srgbClr val="FFFFFF"/>
          </a:solidFill>
          <a:ln w="12700">
            <a:solidFill>
              <a:srgbClr val="D7E5E0">
                <a:alpha val="90000"/>
              </a:srgbClr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6784848" y="1618488"/>
            <a:ext cx="2340864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2252B"/>
                </a:solidFill>
              </a:rPr>
              <a:t>Frontend/UI</a:t>
            </a:r>
            <a:endParaRPr lang="en-US" sz="1500" dirty="0"/>
          </a:p>
        </p:txBody>
      </p:sp>
      <p:sp>
        <p:nvSpPr>
          <p:cNvPr id="13" name="Text 11"/>
          <p:cNvSpPr/>
          <p:nvPr/>
        </p:nvSpPr>
        <p:spPr>
          <a:xfrm>
            <a:off x="6784848" y="2029968"/>
            <a:ext cx="2340864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150" dirty="0">
                <a:solidFill>
                  <a:srgbClr val="5D7078"/>
                </a:solidFill>
              </a:rPr>
              <a:t>Browser dashboard, responsive mobile layout, dark mode, Indonesian language option.</a:t>
            </a:r>
            <a:endParaRPr lang="en-US" sz="1150" dirty="0"/>
          </a:p>
        </p:txBody>
      </p:sp>
      <p:sp>
        <p:nvSpPr>
          <p:cNvPr id="14" name="Shape 12"/>
          <p:cNvSpPr/>
          <p:nvPr/>
        </p:nvSpPr>
        <p:spPr>
          <a:xfrm>
            <a:off x="9555480" y="1417320"/>
            <a:ext cx="2011680" cy="1417320"/>
          </a:xfrm>
          <a:prstGeom prst="roundRect">
            <a:avLst>
              <a:gd name="adj" fmla="val 5161"/>
            </a:avLst>
          </a:prstGeom>
          <a:solidFill>
            <a:srgbClr val="FFFFFF"/>
          </a:solidFill>
          <a:ln w="12700">
            <a:solidFill>
              <a:srgbClr val="D7E5E0">
                <a:alpha val="90000"/>
              </a:srgbClr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9756648" y="1618488"/>
            <a:ext cx="1609344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2252B"/>
                </a:solidFill>
              </a:rPr>
              <a:t>Documentation &amp; Testing</a:t>
            </a:r>
            <a:endParaRPr lang="en-US" sz="1500" dirty="0"/>
          </a:p>
        </p:txBody>
      </p:sp>
      <p:sp>
        <p:nvSpPr>
          <p:cNvPr id="16" name="Text 14"/>
          <p:cNvSpPr/>
          <p:nvPr/>
        </p:nvSpPr>
        <p:spPr>
          <a:xfrm>
            <a:off x="9756648" y="2029968"/>
            <a:ext cx="1609344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150" dirty="0">
                <a:solidFill>
                  <a:srgbClr val="5D7078"/>
                </a:solidFill>
              </a:rPr>
              <a:t>README, report, presentation, architecture theory, Jest tests, GitHub submission.</a:t>
            </a:r>
            <a:endParaRPr lang="en-US" sz="1150" dirty="0"/>
          </a:p>
        </p:txBody>
      </p:sp>
      <p:sp>
        <p:nvSpPr>
          <p:cNvPr id="17" name="Text 15"/>
          <p:cNvSpPr/>
          <p:nvPr/>
        </p:nvSpPr>
        <p:spPr>
          <a:xfrm>
            <a:off x="685800" y="5257800"/>
            <a:ext cx="8046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5D7078"/>
                </a:solidFill>
              </a:rPr>
              <a:t>Names can be filled with group members during presentation.</a:t>
            </a:r>
            <a:endParaRPr lang="en-US" sz="1400" dirty="0"/>
          </a:p>
        </p:txBody>
      </p:sp>
      <p:sp>
        <p:nvSpPr>
          <p:cNvPr id="18" name="Text 16"/>
          <p:cNvSpPr/>
          <p:nvPr/>
        </p:nvSpPr>
        <p:spPr>
          <a:xfrm>
            <a:off x="11109960" y="6355080"/>
            <a:ext cx="457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D7078"/>
                </a:solidFill>
              </a:rPr>
              <a:t>02</a:t>
            </a:r>
            <a:endParaRPr lang="en-US" sz="9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4F8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087E8B"/>
          </a:solidFill>
          <a:ln w="12700">
            <a:solidFill>
              <a:srgbClr val="087E8B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94360" y="347472"/>
            <a:ext cx="23774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087E8B"/>
                </a:solidFill>
              </a:rPr>
              <a:t>HabitFlow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594360" y="667512"/>
            <a:ext cx="74980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2252B"/>
                </a:solidFill>
              </a:rPr>
              <a:t>Problem Statement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685800" y="1463040"/>
            <a:ext cx="85953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400" b="1" dirty="0">
                <a:solidFill>
                  <a:srgbClr val="12252B"/>
                </a:solidFill>
              </a:rPr>
              <a:t>People start personal routines but often lose consistency because daily tasks, past completions, and long-term progress are scattered.</a:t>
            </a:r>
            <a:endParaRPr lang="en-US" sz="2400" dirty="0"/>
          </a:p>
        </p:txBody>
      </p:sp>
      <p:sp>
        <p:nvSpPr>
          <p:cNvPr id="6" name="Text 4"/>
          <p:cNvSpPr/>
          <p:nvPr/>
        </p:nvSpPr>
        <p:spPr>
          <a:xfrm>
            <a:off x="868680" y="2788920"/>
            <a:ext cx="6583680" cy="438912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ctr">
            <a:normAutofit/>
          </a:bodyPr>
          <a:lstStyle/>
          <a:p>
            <a:r>
              <a:rPr lang="en-US" sz="1700" dirty="0">
                <a:solidFill>
                  <a:srgbClr val="12252B"/>
                </a:solidFill>
              </a:rPr>
              <a:t>Users need a clear view of what is scheduled today.</a:t>
            </a:r>
            <a:endParaRPr lang="en-US" sz="1700" dirty="0"/>
          </a:p>
          <a:p>
            <a:r>
              <a:rPr lang="en-US" sz="1700" dirty="0">
                <a:solidFill>
                  <a:srgbClr val="12252B"/>
                </a:solidFill>
              </a:rPr>
              <a:t>Users need history that survives habit deletion.</a:t>
            </a:r>
            <a:endParaRPr lang="en-US" sz="1700" dirty="0"/>
          </a:p>
          <a:p>
            <a:r>
              <a:rPr lang="en-US" sz="1700" dirty="0">
                <a:solidFill>
                  <a:srgbClr val="12252B"/>
                </a:solidFill>
              </a:rPr>
              <a:t>Users need motivation through streaks, journeys, and achievements.</a:t>
            </a:r>
            <a:endParaRPr lang="en-US" sz="1700" dirty="0"/>
          </a:p>
        </p:txBody>
      </p:sp>
      <p:sp>
        <p:nvSpPr>
          <p:cNvPr id="7" name="Shape 5"/>
          <p:cNvSpPr/>
          <p:nvPr/>
        </p:nvSpPr>
        <p:spPr>
          <a:xfrm>
            <a:off x="7909560" y="2331720"/>
            <a:ext cx="3108960" cy="1920240"/>
          </a:xfrm>
          <a:prstGeom prst="roundRect">
            <a:avLst>
              <a:gd name="adj" fmla="val 3810"/>
            </a:avLst>
          </a:prstGeom>
          <a:solidFill>
            <a:srgbClr val="FFFFFF"/>
          </a:solidFill>
          <a:ln w="12700">
            <a:solidFill>
              <a:srgbClr val="D7E5E0">
                <a:alpha val="90000"/>
              </a:srgbClr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8110728" y="2532888"/>
            <a:ext cx="2706624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2252B"/>
                </a:solidFill>
              </a:rPr>
              <a:t>Core Need</a:t>
            </a:r>
            <a:endParaRPr lang="en-US" sz="1500" dirty="0"/>
          </a:p>
        </p:txBody>
      </p:sp>
      <p:sp>
        <p:nvSpPr>
          <p:cNvPr id="9" name="Text 7"/>
          <p:cNvSpPr/>
          <p:nvPr/>
        </p:nvSpPr>
        <p:spPr>
          <a:xfrm>
            <a:off x="8110728" y="2944368"/>
            <a:ext cx="2706624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150" dirty="0">
                <a:solidFill>
                  <a:srgbClr val="5D7078"/>
                </a:solidFill>
              </a:rPr>
              <a:t>A habit tracker that connects scheduling, completion logs, history, streaks, and achievements.</a:t>
            </a:r>
            <a:endParaRPr lang="en-US" sz="1150" dirty="0"/>
          </a:p>
        </p:txBody>
      </p:sp>
      <p:sp>
        <p:nvSpPr>
          <p:cNvPr id="10" name="Text 8"/>
          <p:cNvSpPr/>
          <p:nvPr/>
        </p:nvSpPr>
        <p:spPr>
          <a:xfrm>
            <a:off x="11109960" y="6355080"/>
            <a:ext cx="457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D7078"/>
                </a:solidFill>
              </a:rPr>
              <a:t>03</a:t>
            </a:r>
            <a:endParaRPr lang="en-US" sz="9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4F8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087E8B"/>
          </a:solidFill>
          <a:ln w="12700">
            <a:solidFill>
              <a:srgbClr val="087E8B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94360" y="347472"/>
            <a:ext cx="23774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087E8B"/>
                </a:solidFill>
              </a:rPr>
              <a:t>HabitFlow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594360" y="667512"/>
            <a:ext cx="74980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2252B"/>
                </a:solidFill>
              </a:rPr>
              <a:t>Project Objectives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77240" y="1417320"/>
            <a:ext cx="7498080" cy="438912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ctr">
            <a:normAutofit/>
          </a:bodyPr>
          <a:lstStyle/>
          <a:p>
            <a:r>
              <a:rPr lang="en-US" sz="1800" dirty="0">
                <a:solidFill>
                  <a:srgbClr val="12252B"/>
                </a:solidFill>
              </a:rPr>
              <a:t>Build a backend application using NestJS.</a:t>
            </a:r>
            <a:endParaRPr lang="en-US" sz="1800" dirty="0"/>
          </a:p>
          <a:p>
            <a:r>
              <a:rPr lang="en-US" sz="1800" dirty="0">
                <a:solidFill>
                  <a:srgbClr val="12252B"/>
                </a:solidFill>
              </a:rPr>
              <a:t>Apply a clear architecture style and justify the choice.</a:t>
            </a:r>
            <a:endParaRPr lang="en-US" sz="1800" dirty="0"/>
          </a:p>
          <a:p>
            <a:r>
              <a:rPr lang="en-US" sz="1800" dirty="0">
                <a:solidFill>
                  <a:srgbClr val="12252B"/>
                </a:solidFill>
              </a:rPr>
              <a:t>Implement design patterns in real source code.</a:t>
            </a:r>
            <a:endParaRPr lang="en-US" sz="1800" dirty="0"/>
          </a:p>
          <a:p>
            <a:r>
              <a:rPr lang="en-US" sz="1800" dirty="0">
                <a:solidFill>
                  <a:srgbClr val="12252B"/>
                </a:solidFill>
              </a:rPr>
              <a:t>Provide REST API, simple frontend, report, PPT, and GitHub repository.</a:t>
            </a:r>
            <a:endParaRPr lang="en-US" sz="1800" dirty="0"/>
          </a:p>
          <a:p>
            <a:r>
              <a:rPr lang="en-US" sz="1800" dirty="0">
                <a:solidFill>
                  <a:srgbClr val="12252B"/>
                </a:solidFill>
              </a:rPr>
              <a:t>Keep business logic testable and separate from HTTP/database details.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8321040" y="1508760"/>
            <a:ext cx="3017520" cy="3383280"/>
          </a:xfrm>
          <a:prstGeom prst="roundRect">
            <a:avLst>
              <a:gd name="adj" fmla="val 2424"/>
            </a:avLst>
          </a:prstGeom>
          <a:solidFill>
            <a:srgbClr val="FFFFFF"/>
          </a:solidFill>
          <a:ln w="12700">
            <a:solidFill>
              <a:srgbClr val="D7E5E0">
                <a:alpha val="90000"/>
              </a:srgbClr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8522208" y="1709928"/>
            <a:ext cx="2615184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2252B"/>
                </a:solidFill>
              </a:rPr>
              <a:t>Evaluation Lens</a:t>
            </a:r>
            <a:endParaRPr lang="en-US" sz="1500" dirty="0"/>
          </a:p>
        </p:txBody>
      </p:sp>
      <p:sp>
        <p:nvSpPr>
          <p:cNvPr id="8" name="Text 6"/>
          <p:cNvSpPr/>
          <p:nvPr/>
        </p:nvSpPr>
        <p:spPr>
          <a:xfrm>
            <a:off x="8522208" y="2121408"/>
            <a:ext cx="2615184" cy="26060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150" dirty="0">
                <a:solidFill>
                  <a:srgbClr val="5D7078"/>
                </a:solidFill>
              </a:rPr>
              <a:t>Architecture, modularity, coupling, cohesion, scalability, bounded context, documentation, and working backend implementation.</a:t>
            </a:r>
            <a:endParaRPr lang="en-US" sz="1150" dirty="0"/>
          </a:p>
        </p:txBody>
      </p:sp>
      <p:sp>
        <p:nvSpPr>
          <p:cNvPr id="9" name="Text 7"/>
          <p:cNvSpPr/>
          <p:nvPr/>
        </p:nvSpPr>
        <p:spPr>
          <a:xfrm>
            <a:off x="11109960" y="6355080"/>
            <a:ext cx="457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D7078"/>
                </a:solidFill>
              </a:rPr>
              <a:t>04</a:t>
            </a:r>
            <a:endParaRPr lang="en-US" sz="9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4F8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087E8B"/>
          </a:solidFill>
          <a:ln w="12700">
            <a:solidFill>
              <a:srgbClr val="087E8B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94360" y="347472"/>
            <a:ext cx="23774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087E8B"/>
                </a:solidFill>
              </a:rPr>
              <a:t>HabitFlow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594360" y="667512"/>
            <a:ext cx="74980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2252B"/>
                </a:solidFill>
              </a:rPr>
              <a:t>Solution Overview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77240" y="1417320"/>
            <a:ext cx="7223760" cy="438912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ctr">
            <a:normAutofit/>
          </a:bodyPr>
          <a:lstStyle/>
          <a:p>
            <a:r>
              <a:rPr lang="en-US" sz="1600" dirty="0">
                <a:solidFill>
                  <a:srgbClr val="12252B"/>
                </a:solidFill>
              </a:rPr>
              <a:t>Regular repeated habits</a:t>
            </a:r>
            <a:endParaRPr lang="en-US" sz="1600" dirty="0"/>
          </a:p>
          <a:p>
            <a:r>
              <a:rPr lang="en-US" sz="1600" dirty="0">
                <a:solidFill>
                  <a:srgbClr val="12252B"/>
                </a:solidFill>
              </a:rPr>
              <a:t>Negative habits that count after day ends</a:t>
            </a:r>
            <a:endParaRPr lang="en-US" sz="1600" dirty="0"/>
          </a:p>
          <a:p>
            <a:r>
              <a:rPr lang="en-US" sz="1600" dirty="0">
                <a:solidFill>
                  <a:srgbClr val="12252B"/>
                </a:solidFill>
              </a:rPr>
              <a:t>One-time todo quests</a:t>
            </a:r>
            <a:endParaRPr lang="en-US" sz="1600" dirty="0"/>
          </a:p>
          <a:p>
            <a:r>
              <a:rPr lang="en-US" sz="1600" dirty="0">
                <a:solidFill>
                  <a:srgbClr val="12252B"/>
                </a:solidFill>
              </a:rPr>
              <a:t>Calendar scheduling with start/end dates</a:t>
            </a:r>
            <a:endParaRPr lang="en-US" sz="1600" dirty="0"/>
          </a:p>
          <a:p>
            <a:r>
              <a:rPr lang="en-US" sz="1600" dirty="0">
                <a:solidFill>
                  <a:srgbClr val="12252B"/>
                </a:solidFill>
              </a:rPr>
              <a:t>Journey habit templates</a:t>
            </a:r>
            <a:endParaRPr lang="en-US" sz="1600" dirty="0"/>
          </a:p>
          <a:p>
            <a:r>
              <a:rPr lang="en-US" sz="1600" dirty="0">
                <a:solidFill>
                  <a:srgbClr val="12252B"/>
                </a:solidFill>
              </a:rPr>
              <a:t>History popup and achievement milestones</a:t>
            </a:r>
            <a:endParaRPr lang="en-US" sz="1600" dirty="0"/>
          </a:p>
          <a:p>
            <a:r>
              <a:rPr lang="en-US" sz="1600" dirty="0">
                <a:solidFill>
                  <a:srgbClr val="12252B"/>
                </a:solidFill>
              </a:rPr>
              <a:t>Profile settings, dark mode, Indonesian language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8229600" y="1554480"/>
            <a:ext cx="2834640" cy="18288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D7E5E0">
                <a:alpha val="90000"/>
              </a:srgbClr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8430768" y="1755648"/>
            <a:ext cx="2432304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2252B"/>
                </a:solidFill>
              </a:rPr>
              <a:t>HabitFlow</a:t>
            </a:r>
            <a:endParaRPr lang="en-US" sz="1500" dirty="0"/>
          </a:p>
        </p:txBody>
      </p:sp>
      <p:sp>
        <p:nvSpPr>
          <p:cNvPr id="8" name="Text 6"/>
          <p:cNvSpPr/>
          <p:nvPr/>
        </p:nvSpPr>
        <p:spPr>
          <a:xfrm>
            <a:off x="8430768" y="2167128"/>
            <a:ext cx="2432304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150" dirty="0">
                <a:solidFill>
                  <a:srgbClr val="5D7078"/>
                </a:solidFill>
              </a:rPr>
              <a:t>A backend-first habit tracker with a simple but usable frontend for demonstrating the API workflows.</a:t>
            </a:r>
            <a:endParaRPr lang="en-US" sz="1150" dirty="0"/>
          </a:p>
        </p:txBody>
      </p:sp>
      <p:sp>
        <p:nvSpPr>
          <p:cNvPr id="9" name="Shape 7"/>
          <p:cNvSpPr/>
          <p:nvPr/>
        </p:nvSpPr>
        <p:spPr>
          <a:xfrm>
            <a:off x="8229600" y="3703320"/>
            <a:ext cx="2834640" cy="1325880"/>
          </a:xfrm>
          <a:prstGeom prst="roundRect">
            <a:avLst>
              <a:gd name="adj" fmla="val 5517"/>
            </a:avLst>
          </a:prstGeom>
          <a:solidFill>
            <a:srgbClr val="FFFFFF"/>
          </a:solidFill>
          <a:ln w="12700">
            <a:solidFill>
              <a:srgbClr val="D7E5E0">
                <a:alpha val="90000"/>
              </a:srgbClr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8430768" y="3904488"/>
            <a:ext cx="2432304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2252B"/>
                </a:solidFill>
              </a:rPr>
              <a:t>Key Rule Example</a:t>
            </a:r>
            <a:endParaRPr lang="en-US" sz="1500" dirty="0"/>
          </a:p>
        </p:txBody>
      </p:sp>
      <p:sp>
        <p:nvSpPr>
          <p:cNvPr id="11" name="Text 9"/>
          <p:cNvSpPr/>
          <p:nvPr/>
        </p:nvSpPr>
        <p:spPr>
          <a:xfrm>
            <a:off x="8430768" y="4315968"/>
            <a:ext cx="2432304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150" dirty="0">
                <a:solidFill>
                  <a:srgbClr val="5D7078"/>
                </a:solidFill>
              </a:rPr>
              <a:t>Soft deletion preserves previous history while removing future scheduled obligations.</a:t>
            </a:r>
            <a:endParaRPr lang="en-US" sz="1150" dirty="0"/>
          </a:p>
        </p:txBody>
      </p:sp>
      <p:sp>
        <p:nvSpPr>
          <p:cNvPr id="12" name="Text 10"/>
          <p:cNvSpPr/>
          <p:nvPr/>
        </p:nvSpPr>
        <p:spPr>
          <a:xfrm>
            <a:off x="11109960" y="6355080"/>
            <a:ext cx="457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D7078"/>
                </a:solidFill>
              </a:rPr>
              <a:t>05</a:t>
            </a:r>
            <a:endParaRPr lang="en-US" sz="9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4F8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087E8B"/>
          </a:solidFill>
          <a:ln w="12700">
            <a:solidFill>
              <a:srgbClr val="087E8B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94360" y="347472"/>
            <a:ext cx="23774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087E8B"/>
                </a:solidFill>
              </a:rPr>
              <a:t>HabitFlow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594360" y="667512"/>
            <a:ext cx="74980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2252B"/>
                </a:solidFill>
              </a:rPr>
              <a:t>Technology Stack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685800" y="1234440"/>
            <a:ext cx="5166360" cy="822960"/>
          </a:xfrm>
          <a:prstGeom prst="roundRect">
            <a:avLst>
              <a:gd name="adj" fmla="val 8889"/>
            </a:avLst>
          </a:prstGeom>
          <a:solidFill>
            <a:srgbClr val="FFFFFF"/>
          </a:solidFill>
          <a:ln w="12700">
            <a:solidFill>
              <a:srgbClr val="D7E5E0">
                <a:alpha val="90000"/>
              </a:srgbClr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886968" y="1435608"/>
            <a:ext cx="4764024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2252B"/>
                </a:solidFill>
              </a:rPr>
              <a:t>Backend</a:t>
            </a:r>
            <a:endParaRPr lang="en-US" sz="1500" dirty="0"/>
          </a:p>
        </p:txBody>
      </p:sp>
      <p:sp>
        <p:nvSpPr>
          <p:cNvPr id="7" name="Text 5"/>
          <p:cNvSpPr/>
          <p:nvPr/>
        </p:nvSpPr>
        <p:spPr>
          <a:xfrm>
            <a:off x="886968" y="1847088"/>
            <a:ext cx="4764024" cy="457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150" dirty="0">
                <a:solidFill>
                  <a:srgbClr val="5D7078"/>
                </a:solidFill>
              </a:rPr>
              <a:t>NestJS, TypeScript, Node.js</a:t>
            </a:r>
            <a:endParaRPr lang="en-US" sz="1150" dirty="0"/>
          </a:p>
        </p:txBody>
      </p:sp>
      <p:sp>
        <p:nvSpPr>
          <p:cNvPr id="8" name="Shape 6"/>
          <p:cNvSpPr/>
          <p:nvPr/>
        </p:nvSpPr>
        <p:spPr>
          <a:xfrm>
            <a:off x="6263640" y="1234440"/>
            <a:ext cx="5166360" cy="822960"/>
          </a:xfrm>
          <a:prstGeom prst="roundRect">
            <a:avLst>
              <a:gd name="adj" fmla="val 8889"/>
            </a:avLst>
          </a:prstGeom>
          <a:solidFill>
            <a:srgbClr val="FFFFFF"/>
          </a:solidFill>
          <a:ln w="12700">
            <a:solidFill>
              <a:srgbClr val="D7E5E0">
                <a:alpha val="90000"/>
              </a:srgbClr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6464808" y="1435608"/>
            <a:ext cx="4764024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2252B"/>
                </a:solidFill>
              </a:rPr>
              <a:t>Database</a:t>
            </a:r>
            <a:endParaRPr lang="en-US" sz="1500" dirty="0"/>
          </a:p>
        </p:txBody>
      </p:sp>
      <p:sp>
        <p:nvSpPr>
          <p:cNvPr id="10" name="Text 8"/>
          <p:cNvSpPr/>
          <p:nvPr/>
        </p:nvSpPr>
        <p:spPr>
          <a:xfrm>
            <a:off x="6464808" y="1847088"/>
            <a:ext cx="4764024" cy="457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150" dirty="0">
                <a:solidFill>
                  <a:srgbClr val="5D7078"/>
                </a:solidFill>
              </a:rPr>
              <a:t>PostgreSQL, node-postgres</a:t>
            </a:r>
            <a:endParaRPr lang="en-US" sz="1150" dirty="0"/>
          </a:p>
        </p:txBody>
      </p:sp>
      <p:sp>
        <p:nvSpPr>
          <p:cNvPr id="11" name="Shape 9"/>
          <p:cNvSpPr/>
          <p:nvPr/>
        </p:nvSpPr>
        <p:spPr>
          <a:xfrm>
            <a:off x="685800" y="2377440"/>
            <a:ext cx="5166360" cy="822960"/>
          </a:xfrm>
          <a:prstGeom prst="roundRect">
            <a:avLst>
              <a:gd name="adj" fmla="val 8889"/>
            </a:avLst>
          </a:prstGeom>
          <a:solidFill>
            <a:srgbClr val="FFFFFF"/>
          </a:solidFill>
          <a:ln w="12700">
            <a:solidFill>
              <a:srgbClr val="D7E5E0">
                <a:alpha val="90000"/>
              </a:srgbClr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886968" y="2578608"/>
            <a:ext cx="4764024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2252B"/>
                </a:solidFill>
              </a:rPr>
              <a:t>Validation</a:t>
            </a:r>
            <a:endParaRPr lang="en-US" sz="1500" dirty="0"/>
          </a:p>
        </p:txBody>
      </p:sp>
      <p:sp>
        <p:nvSpPr>
          <p:cNvPr id="13" name="Text 11"/>
          <p:cNvSpPr/>
          <p:nvPr/>
        </p:nvSpPr>
        <p:spPr>
          <a:xfrm>
            <a:off x="886968" y="2990088"/>
            <a:ext cx="4764024" cy="457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150" dirty="0">
                <a:solidFill>
                  <a:srgbClr val="5D7078"/>
                </a:solidFill>
              </a:rPr>
              <a:t>Zod</a:t>
            </a:r>
            <a:endParaRPr lang="en-US" sz="1150" dirty="0"/>
          </a:p>
        </p:txBody>
      </p:sp>
      <p:sp>
        <p:nvSpPr>
          <p:cNvPr id="14" name="Shape 12"/>
          <p:cNvSpPr/>
          <p:nvPr/>
        </p:nvSpPr>
        <p:spPr>
          <a:xfrm>
            <a:off x="6263640" y="2377440"/>
            <a:ext cx="5166360" cy="822960"/>
          </a:xfrm>
          <a:prstGeom prst="roundRect">
            <a:avLst>
              <a:gd name="adj" fmla="val 8889"/>
            </a:avLst>
          </a:prstGeom>
          <a:solidFill>
            <a:srgbClr val="FFFFFF"/>
          </a:solidFill>
          <a:ln w="12700">
            <a:solidFill>
              <a:srgbClr val="D7E5E0">
                <a:alpha val="90000"/>
              </a:srgbClr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6464808" y="2578608"/>
            <a:ext cx="4764024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2252B"/>
                </a:solidFill>
              </a:rPr>
              <a:t>Testing</a:t>
            </a:r>
            <a:endParaRPr lang="en-US" sz="1500" dirty="0"/>
          </a:p>
        </p:txBody>
      </p:sp>
      <p:sp>
        <p:nvSpPr>
          <p:cNvPr id="16" name="Text 14"/>
          <p:cNvSpPr/>
          <p:nvPr/>
        </p:nvSpPr>
        <p:spPr>
          <a:xfrm>
            <a:off x="6464808" y="2990088"/>
            <a:ext cx="4764024" cy="457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150" dirty="0">
                <a:solidFill>
                  <a:srgbClr val="5D7078"/>
                </a:solidFill>
              </a:rPr>
              <a:t>Jest, ts-jest</a:t>
            </a:r>
            <a:endParaRPr lang="en-US" sz="1150" dirty="0"/>
          </a:p>
        </p:txBody>
      </p:sp>
      <p:sp>
        <p:nvSpPr>
          <p:cNvPr id="17" name="Shape 15"/>
          <p:cNvSpPr/>
          <p:nvPr/>
        </p:nvSpPr>
        <p:spPr>
          <a:xfrm>
            <a:off x="685800" y="3520440"/>
            <a:ext cx="5166360" cy="822960"/>
          </a:xfrm>
          <a:prstGeom prst="roundRect">
            <a:avLst>
              <a:gd name="adj" fmla="val 8889"/>
            </a:avLst>
          </a:prstGeom>
          <a:solidFill>
            <a:srgbClr val="FFFFFF"/>
          </a:solidFill>
          <a:ln w="12700">
            <a:solidFill>
              <a:srgbClr val="D7E5E0">
                <a:alpha val="90000"/>
              </a:srgbClr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886968" y="3721608"/>
            <a:ext cx="4764024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2252B"/>
                </a:solidFill>
              </a:rPr>
              <a:t>Frontend</a:t>
            </a:r>
            <a:endParaRPr lang="en-US" sz="1500" dirty="0"/>
          </a:p>
        </p:txBody>
      </p:sp>
      <p:sp>
        <p:nvSpPr>
          <p:cNvPr id="19" name="Text 17"/>
          <p:cNvSpPr/>
          <p:nvPr/>
        </p:nvSpPr>
        <p:spPr>
          <a:xfrm>
            <a:off x="886968" y="4133088"/>
            <a:ext cx="4764024" cy="457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150" dirty="0">
                <a:solidFill>
                  <a:srgbClr val="5D7078"/>
                </a:solidFill>
              </a:rPr>
              <a:t>HTML/CSS/JavaScript browser dashboard, Flutter source</a:t>
            </a:r>
            <a:endParaRPr lang="en-US" sz="1150" dirty="0"/>
          </a:p>
        </p:txBody>
      </p:sp>
      <p:sp>
        <p:nvSpPr>
          <p:cNvPr id="20" name="Shape 18"/>
          <p:cNvSpPr/>
          <p:nvPr/>
        </p:nvSpPr>
        <p:spPr>
          <a:xfrm>
            <a:off x="6263640" y="3520440"/>
            <a:ext cx="5166360" cy="822960"/>
          </a:xfrm>
          <a:prstGeom prst="roundRect">
            <a:avLst>
              <a:gd name="adj" fmla="val 8889"/>
            </a:avLst>
          </a:prstGeom>
          <a:solidFill>
            <a:srgbClr val="FFFFFF"/>
          </a:solidFill>
          <a:ln w="12700">
            <a:solidFill>
              <a:srgbClr val="D7E5E0">
                <a:alpha val="90000"/>
              </a:srgbClr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6464808" y="3721608"/>
            <a:ext cx="4764024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2252B"/>
                </a:solidFill>
              </a:rPr>
              <a:t>DevOps</a:t>
            </a:r>
            <a:endParaRPr lang="en-US" sz="1500" dirty="0"/>
          </a:p>
        </p:txBody>
      </p:sp>
      <p:sp>
        <p:nvSpPr>
          <p:cNvPr id="22" name="Text 20"/>
          <p:cNvSpPr/>
          <p:nvPr/>
        </p:nvSpPr>
        <p:spPr>
          <a:xfrm>
            <a:off x="6464808" y="4133088"/>
            <a:ext cx="4764024" cy="457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150" dirty="0">
                <a:solidFill>
                  <a:srgbClr val="5D7078"/>
                </a:solidFill>
              </a:rPr>
              <a:t>Docker Compose, .env configuration</a:t>
            </a:r>
            <a:endParaRPr lang="en-US" sz="1150" dirty="0"/>
          </a:p>
        </p:txBody>
      </p:sp>
      <p:sp>
        <p:nvSpPr>
          <p:cNvPr id="23" name="Shape 21"/>
          <p:cNvSpPr/>
          <p:nvPr/>
        </p:nvSpPr>
        <p:spPr>
          <a:xfrm>
            <a:off x="685800" y="4663440"/>
            <a:ext cx="5166360" cy="822960"/>
          </a:xfrm>
          <a:prstGeom prst="roundRect">
            <a:avLst>
              <a:gd name="adj" fmla="val 8889"/>
            </a:avLst>
          </a:prstGeom>
          <a:solidFill>
            <a:srgbClr val="FFFFFF"/>
          </a:solidFill>
          <a:ln w="12700">
            <a:solidFill>
              <a:srgbClr val="D7E5E0">
                <a:alpha val="90000"/>
              </a:srgbClr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886968" y="4864608"/>
            <a:ext cx="4764024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2252B"/>
                </a:solidFill>
              </a:rPr>
              <a:t>Version Control</a:t>
            </a:r>
            <a:endParaRPr lang="en-US" sz="1500" dirty="0"/>
          </a:p>
        </p:txBody>
      </p:sp>
      <p:sp>
        <p:nvSpPr>
          <p:cNvPr id="25" name="Text 23"/>
          <p:cNvSpPr/>
          <p:nvPr/>
        </p:nvSpPr>
        <p:spPr>
          <a:xfrm>
            <a:off x="886968" y="5276088"/>
            <a:ext cx="4764024" cy="457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150" dirty="0">
                <a:solidFill>
                  <a:srgbClr val="5D7078"/>
                </a:solidFill>
              </a:rPr>
              <a:t>Git and GitHub</a:t>
            </a:r>
            <a:endParaRPr lang="en-US" sz="1150" dirty="0"/>
          </a:p>
        </p:txBody>
      </p:sp>
      <p:sp>
        <p:nvSpPr>
          <p:cNvPr id="26" name="Text 24"/>
          <p:cNvSpPr/>
          <p:nvPr/>
        </p:nvSpPr>
        <p:spPr>
          <a:xfrm>
            <a:off x="11109960" y="6355080"/>
            <a:ext cx="457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D7078"/>
                </a:solidFill>
              </a:rPr>
              <a:t>06</a:t>
            </a:r>
            <a:endParaRPr lang="en-US" sz="9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10293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087E8B"/>
          </a:solidFill>
          <a:ln w="12700">
            <a:solidFill>
              <a:srgbClr val="087E8B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658368" y="502920"/>
            <a:ext cx="2194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9BF4FF"/>
                </a:solidFill>
              </a:rPr>
              <a:t>HabitFlow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658368" y="2148840"/>
            <a:ext cx="81381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FFFFFF"/>
                </a:solidFill>
              </a:rPr>
              <a:t>Architecture Style</a:t>
            </a:r>
            <a:endParaRPr lang="en-US" sz="3400" dirty="0"/>
          </a:p>
        </p:txBody>
      </p:sp>
      <p:sp>
        <p:nvSpPr>
          <p:cNvPr id="5" name="Text 3"/>
          <p:cNvSpPr/>
          <p:nvPr/>
        </p:nvSpPr>
        <p:spPr>
          <a:xfrm>
            <a:off x="685800" y="2880360"/>
            <a:ext cx="70408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700" dirty="0">
                <a:solidFill>
                  <a:srgbClr val="D5EEF1"/>
                </a:solidFill>
              </a:rPr>
              <a:t>Microservice-style Clean Architecture with NestJS as the main framework.</a:t>
            </a:r>
            <a:endParaRPr lang="en-US" sz="1700" dirty="0"/>
          </a:p>
        </p:txBody>
      </p:sp>
      <p:sp>
        <p:nvSpPr>
          <p:cNvPr id="6" name="Shape 4"/>
          <p:cNvSpPr/>
          <p:nvPr/>
        </p:nvSpPr>
        <p:spPr>
          <a:xfrm>
            <a:off x="9326880" y="1097280"/>
            <a:ext cx="2011680" cy="2011680"/>
          </a:xfrm>
          <a:prstGeom prst="arc">
            <a:avLst/>
          </a:prstGeom>
          <a:noFill/>
          <a:ln w="63500">
            <a:solidFill>
              <a:srgbClr val="F0B84F">
                <a:alpha val="92000"/>
              </a:srgbClr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11109960" y="6355080"/>
            <a:ext cx="457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D7078"/>
                </a:solidFill>
              </a:rPr>
              <a:t>07</a:t>
            </a:r>
            <a:endParaRPr lang="en-US" sz="9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4F8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087E8B"/>
          </a:solidFill>
          <a:ln w="12700">
            <a:solidFill>
              <a:srgbClr val="087E8B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94360" y="347472"/>
            <a:ext cx="23774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087E8B"/>
                </a:solidFill>
              </a:rPr>
              <a:t>HabitFlow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594360" y="667512"/>
            <a:ext cx="74980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2252B"/>
                </a:solidFill>
              </a:rPr>
              <a:t>Software Architecture Overview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685800" y="1325880"/>
            <a:ext cx="2468880" cy="1143000"/>
          </a:xfrm>
          <a:prstGeom prst="roundRect">
            <a:avLst>
              <a:gd name="adj" fmla="val 6400"/>
            </a:avLst>
          </a:prstGeom>
          <a:solidFill>
            <a:srgbClr val="FFFFFF"/>
          </a:solidFill>
          <a:ln w="12700">
            <a:solidFill>
              <a:srgbClr val="D7E5E0">
                <a:alpha val="90000"/>
              </a:srgbClr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886968" y="1527048"/>
            <a:ext cx="2066544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2252B"/>
                </a:solidFill>
              </a:rPr>
              <a:t>Domain</a:t>
            </a:r>
            <a:endParaRPr lang="en-US" sz="1500" dirty="0"/>
          </a:p>
        </p:txBody>
      </p:sp>
      <p:sp>
        <p:nvSpPr>
          <p:cNvPr id="7" name="Text 5"/>
          <p:cNvSpPr/>
          <p:nvPr/>
        </p:nvSpPr>
        <p:spPr>
          <a:xfrm>
            <a:off x="886968" y="1938528"/>
            <a:ext cx="206654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150" dirty="0">
                <a:solidFill>
                  <a:srgbClr val="5D7078"/>
                </a:solidFill>
              </a:rPr>
              <a:t>Entities and repository contracts</a:t>
            </a:r>
            <a:endParaRPr lang="en-US" sz="1150" dirty="0"/>
          </a:p>
          <a:p>
            <a:pPr indent="0" marL="0">
              <a:buNone/>
            </a:pPr>
            <a:r>
              <a:rPr lang="en-US" sz="1150" dirty="0">
                <a:solidFill>
                  <a:srgbClr val="5D7078"/>
                </a:solidFill>
              </a:rPr>
              <a:t>src/domain</a:t>
            </a:r>
            <a:endParaRPr lang="en-US" sz="1150" dirty="0"/>
          </a:p>
        </p:txBody>
      </p:sp>
      <p:sp>
        <p:nvSpPr>
          <p:cNvPr id="8" name="Shape 6"/>
          <p:cNvSpPr/>
          <p:nvPr/>
        </p:nvSpPr>
        <p:spPr>
          <a:xfrm>
            <a:off x="3429000" y="1325880"/>
            <a:ext cx="2651760" cy="1143000"/>
          </a:xfrm>
          <a:prstGeom prst="roundRect">
            <a:avLst>
              <a:gd name="adj" fmla="val 6400"/>
            </a:avLst>
          </a:prstGeom>
          <a:solidFill>
            <a:srgbClr val="FFFFFF"/>
          </a:solidFill>
          <a:ln w="12700">
            <a:solidFill>
              <a:srgbClr val="D7E5E0">
                <a:alpha val="90000"/>
              </a:srgbClr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3630168" y="1527048"/>
            <a:ext cx="2249424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2252B"/>
                </a:solidFill>
              </a:rPr>
              <a:t>Application</a:t>
            </a:r>
            <a:endParaRPr lang="en-US" sz="1500" dirty="0"/>
          </a:p>
        </p:txBody>
      </p:sp>
      <p:sp>
        <p:nvSpPr>
          <p:cNvPr id="10" name="Text 8"/>
          <p:cNvSpPr/>
          <p:nvPr/>
        </p:nvSpPr>
        <p:spPr>
          <a:xfrm>
            <a:off x="3630168" y="1938528"/>
            <a:ext cx="224942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150" dirty="0">
                <a:solidFill>
                  <a:srgbClr val="5D7078"/>
                </a:solidFill>
              </a:rPr>
              <a:t>Business use cases and rules</a:t>
            </a:r>
            <a:endParaRPr lang="en-US" sz="1150" dirty="0"/>
          </a:p>
          <a:p>
            <a:pPr indent="0" marL="0">
              <a:buNone/>
            </a:pPr>
            <a:r>
              <a:rPr lang="en-US" sz="1150" dirty="0">
                <a:solidFill>
                  <a:srgbClr val="5D7078"/>
                </a:solidFill>
              </a:rPr>
              <a:t>src/application/services</a:t>
            </a:r>
            <a:endParaRPr lang="en-US" sz="1150" dirty="0"/>
          </a:p>
        </p:txBody>
      </p:sp>
      <p:sp>
        <p:nvSpPr>
          <p:cNvPr id="11" name="Shape 9"/>
          <p:cNvSpPr/>
          <p:nvPr/>
        </p:nvSpPr>
        <p:spPr>
          <a:xfrm>
            <a:off x="6355080" y="1325880"/>
            <a:ext cx="2651760" cy="1143000"/>
          </a:xfrm>
          <a:prstGeom prst="roundRect">
            <a:avLst>
              <a:gd name="adj" fmla="val 6400"/>
            </a:avLst>
          </a:prstGeom>
          <a:solidFill>
            <a:srgbClr val="FFFFFF"/>
          </a:solidFill>
          <a:ln w="12700">
            <a:solidFill>
              <a:srgbClr val="D7E5E0">
                <a:alpha val="90000"/>
              </a:srgbClr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6556248" y="1527048"/>
            <a:ext cx="2249424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2252B"/>
                </a:solidFill>
              </a:rPr>
              <a:t>Presentation</a:t>
            </a:r>
            <a:endParaRPr lang="en-US" sz="1500" dirty="0"/>
          </a:p>
        </p:txBody>
      </p:sp>
      <p:sp>
        <p:nvSpPr>
          <p:cNvPr id="13" name="Text 11"/>
          <p:cNvSpPr/>
          <p:nvPr/>
        </p:nvSpPr>
        <p:spPr>
          <a:xfrm>
            <a:off x="6556248" y="1938528"/>
            <a:ext cx="224942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150" dirty="0">
                <a:solidFill>
                  <a:srgbClr val="5D7078"/>
                </a:solidFill>
              </a:rPr>
              <a:t>NestJS controllers, filters, validators</a:t>
            </a:r>
            <a:endParaRPr lang="en-US" sz="1150" dirty="0"/>
          </a:p>
          <a:p>
            <a:pPr indent="0" marL="0">
              <a:buNone/>
            </a:pPr>
            <a:r>
              <a:rPr lang="en-US" sz="1150" dirty="0">
                <a:solidFill>
                  <a:srgbClr val="5D7078"/>
                </a:solidFill>
              </a:rPr>
              <a:t>src/presentation</a:t>
            </a:r>
            <a:endParaRPr lang="en-US" sz="1150" dirty="0"/>
          </a:p>
        </p:txBody>
      </p:sp>
      <p:sp>
        <p:nvSpPr>
          <p:cNvPr id="14" name="Shape 12"/>
          <p:cNvSpPr/>
          <p:nvPr/>
        </p:nvSpPr>
        <p:spPr>
          <a:xfrm>
            <a:off x="9281160" y="1325880"/>
            <a:ext cx="2194560" cy="1143000"/>
          </a:xfrm>
          <a:prstGeom prst="roundRect">
            <a:avLst>
              <a:gd name="adj" fmla="val 6400"/>
            </a:avLst>
          </a:prstGeom>
          <a:solidFill>
            <a:srgbClr val="FFFFFF"/>
          </a:solidFill>
          <a:ln w="12700">
            <a:solidFill>
              <a:srgbClr val="D7E5E0">
                <a:alpha val="90000"/>
              </a:srgbClr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9482328" y="1527048"/>
            <a:ext cx="1792224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2252B"/>
                </a:solidFill>
              </a:rPr>
              <a:t>Infrastructure</a:t>
            </a:r>
            <a:endParaRPr lang="en-US" sz="1500" dirty="0"/>
          </a:p>
        </p:txBody>
      </p:sp>
      <p:sp>
        <p:nvSpPr>
          <p:cNvPr id="16" name="Text 14"/>
          <p:cNvSpPr/>
          <p:nvPr/>
        </p:nvSpPr>
        <p:spPr>
          <a:xfrm>
            <a:off x="9482328" y="1938528"/>
            <a:ext cx="179222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150" dirty="0">
                <a:solidFill>
                  <a:srgbClr val="5D7078"/>
                </a:solidFill>
              </a:rPr>
              <a:t>PostgreSQL and memory repositories</a:t>
            </a:r>
            <a:endParaRPr lang="en-US" sz="1150" dirty="0"/>
          </a:p>
          <a:p>
            <a:pPr indent="0" marL="0">
              <a:buNone/>
            </a:pPr>
            <a:r>
              <a:rPr lang="en-US" sz="1150" dirty="0">
                <a:solidFill>
                  <a:srgbClr val="5D7078"/>
                </a:solidFill>
              </a:rPr>
              <a:t>src/infrastructure</a:t>
            </a:r>
            <a:endParaRPr lang="en-US" sz="1150" dirty="0"/>
          </a:p>
        </p:txBody>
      </p:sp>
      <p:sp>
        <p:nvSpPr>
          <p:cNvPr id="17" name="Text 15"/>
          <p:cNvSpPr/>
          <p:nvPr/>
        </p:nvSpPr>
        <p:spPr>
          <a:xfrm>
            <a:off x="777240" y="3200400"/>
            <a:ext cx="9875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2252B"/>
                </a:solidFill>
              </a:rPr>
              <a:t>Dependency direction: Presentation -&gt; Application -&gt; Domain, and Infrastructure -&gt; Domain</a:t>
            </a:r>
            <a:endParaRPr lang="en-US" sz="1800" dirty="0"/>
          </a:p>
        </p:txBody>
      </p:sp>
      <p:sp>
        <p:nvSpPr>
          <p:cNvPr id="18" name="Text 16"/>
          <p:cNvSpPr/>
          <p:nvPr/>
        </p:nvSpPr>
        <p:spPr>
          <a:xfrm>
            <a:off x="822960" y="3886200"/>
            <a:ext cx="8412480" cy="438912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ctr">
            <a:normAutofit/>
          </a:bodyPr>
          <a:lstStyle/>
          <a:p>
            <a:r>
              <a:rPr lang="en-US" sz="1600" dirty="0">
                <a:solidFill>
                  <a:srgbClr val="12252B"/>
                </a:solidFill>
              </a:rPr>
              <a:t>NestJS and PostgreSQL are outer-layer details.</a:t>
            </a:r>
            <a:endParaRPr lang="en-US" sz="1600" dirty="0"/>
          </a:p>
          <a:p>
            <a:r>
              <a:rPr lang="en-US" sz="1600" dirty="0">
                <a:solidFill>
                  <a:srgbClr val="12252B"/>
                </a:solidFill>
              </a:rPr>
              <a:t>HabitService depends on HabitRepository interface, not SQL.</a:t>
            </a:r>
            <a:endParaRPr lang="en-US" sz="1600" dirty="0"/>
          </a:p>
          <a:p>
            <a:r>
              <a:rPr lang="en-US" sz="1600" dirty="0">
                <a:solidFill>
                  <a:srgbClr val="12252B"/>
                </a:solidFill>
              </a:rPr>
              <a:t>src/app.ts is the composition root that wires providers.</a:t>
            </a:r>
            <a:endParaRPr lang="en-US" sz="1600" dirty="0"/>
          </a:p>
        </p:txBody>
      </p:sp>
      <p:sp>
        <p:nvSpPr>
          <p:cNvPr id="19" name="Text 17"/>
          <p:cNvSpPr/>
          <p:nvPr/>
        </p:nvSpPr>
        <p:spPr>
          <a:xfrm>
            <a:off x="11109960" y="6355080"/>
            <a:ext cx="457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D7078"/>
                </a:solidFill>
              </a:rPr>
              <a:t>08</a:t>
            </a:r>
            <a:endParaRPr lang="en-US" sz="9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4F8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087E8B"/>
          </a:solidFill>
          <a:ln w="12700">
            <a:solidFill>
              <a:srgbClr val="087E8B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94360" y="347472"/>
            <a:ext cx="23774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087E8B"/>
                </a:solidFill>
              </a:rPr>
              <a:t>HabitFlow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594360" y="667512"/>
            <a:ext cx="74980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2252B"/>
                </a:solidFill>
              </a:rPr>
              <a:t>Design Patterns Implemented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685800" y="1325880"/>
            <a:ext cx="3246120" cy="1188720"/>
          </a:xfrm>
          <a:prstGeom prst="roundRect">
            <a:avLst>
              <a:gd name="adj" fmla="val 6154"/>
            </a:avLst>
          </a:prstGeom>
          <a:solidFill>
            <a:srgbClr val="FFFFFF"/>
          </a:solidFill>
          <a:ln w="12700">
            <a:solidFill>
              <a:srgbClr val="D7E5E0">
                <a:alpha val="90000"/>
              </a:srgbClr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886968" y="1527048"/>
            <a:ext cx="2843784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2252B"/>
                </a:solidFill>
              </a:rPr>
              <a:t>Repository</a:t>
            </a:r>
            <a:endParaRPr lang="en-US" sz="1500" dirty="0"/>
          </a:p>
        </p:txBody>
      </p:sp>
      <p:sp>
        <p:nvSpPr>
          <p:cNvPr id="7" name="Text 5"/>
          <p:cNvSpPr/>
          <p:nvPr/>
        </p:nvSpPr>
        <p:spPr>
          <a:xfrm>
            <a:off x="886968" y="1938528"/>
            <a:ext cx="2843784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150" dirty="0">
                <a:solidFill>
                  <a:srgbClr val="5D7078"/>
                </a:solidFill>
              </a:rPr>
              <a:t>HabitRepository + Postgres/InMemory implementations</a:t>
            </a:r>
            <a:endParaRPr lang="en-US" sz="1150" dirty="0"/>
          </a:p>
        </p:txBody>
      </p:sp>
      <p:sp>
        <p:nvSpPr>
          <p:cNvPr id="8" name="Shape 6"/>
          <p:cNvSpPr/>
          <p:nvPr/>
        </p:nvSpPr>
        <p:spPr>
          <a:xfrm>
            <a:off x="4480560" y="1325880"/>
            <a:ext cx="3246120" cy="1188720"/>
          </a:xfrm>
          <a:prstGeom prst="roundRect">
            <a:avLst>
              <a:gd name="adj" fmla="val 6154"/>
            </a:avLst>
          </a:prstGeom>
          <a:solidFill>
            <a:srgbClr val="FFFFFF"/>
          </a:solidFill>
          <a:ln w="12700">
            <a:solidFill>
              <a:srgbClr val="D7E5E0">
                <a:alpha val="90000"/>
              </a:srgbClr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4681728" y="1527048"/>
            <a:ext cx="2843784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2252B"/>
                </a:solidFill>
              </a:rPr>
              <a:t>Dependency Injection</a:t>
            </a:r>
            <a:endParaRPr lang="en-US" sz="1500" dirty="0"/>
          </a:p>
        </p:txBody>
      </p:sp>
      <p:sp>
        <p:nvSpPr>
          <p:cNvPr id="10" name="Text 8"/>
          <p:cNvSpPr/>
          <p:nvPr/>
        </p:nvSpPr>
        <p:spPr>
          <a:xfrm>
            <a:off x="4681728" y="1938528"/>
            <a:ext cx="2843784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150" dirty="0">
                <a:solidFill>
                  <a:srgbClr val="5D7078"/>
                </a:solidFill>
              </a:rPr>
              <a:t>NestJS providers inject repository into services</a:t>
            </a:r>
            <a:endParaRPr lang="en-US" sz="1150" dirty="0"/>
          </a:p>
        </p:txBody>
      </p:sp>
      <p:sp>
        <p:nvSpPr>
          <p:cNvPr id="11" name="Shape 9"/>
          <p:cNvSpPr/>
          <p:nvPr/>
        </p:nvSpPr>
        <p:spPr>
          <a:xfrm>
            <a:off x="8275320" y="1325880"/>
            <a:ext cx="3246120" cy="1188720"/>
          </a:xfrm>
          <a:prstGeom prst="roundRect">
            <a:avLst>
              <a:gd name="adj" fmla="val 6154"/>
            </a:avLst>
          </a:prstGeom>
          <a:solidFill>
            <a:srgbClr val="FFFFFF"/>
          </a:solidFill>
          <a:ln w="12700">
            <a:solidFill>
              <a:srgbClr val="D7E5E0">
                <a:alpha val="90000"/>
              </a:srgbClr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8476488" y="1527048"/>
            <a:ext cx="2843784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2252B"/>
                </a:solidFill>
              </a:rPr>
              <a:t>Controller</a:t>
            </a:r>
            <a:endParaRPr lang="en-US" sz="1500" dirty="0"/>
          </a:p>
        </p:txBody>
      </p:sp>
      <p:sp>
        <p:nvSpPr>
          <p:cNvPr id="13" name="Text 11"/>
          <p:cNvSpPr/>
          <p:nvPr/>
        </p:nvSpPr>
        <p:spPr>
          <a:xfrm>
            <a:off x="8476488" y="1938528"/>
            <a:ext cx="2843784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150" dirty="0">
                <a:solidFill>
                  <a:srgbClr val="5D7078"/>
                </a:solidFill>
              </a:rPr>
              <a:t>NestJS controllers map HTTP to application use cases</a:t>
            </a:r>
            <a:endParaRPr lang="en-US" sz="1150" dirty="0"/>
          </a:p>
        </p:txBody>
      </p:sp>
      <p:sp>
        <p:nvSpPr>
          <p:cNvPr id="14" name="Shape 12"/>
          <p:cNvSpPr/>
          <p:nvPr/>
        </p:nvSpPr>
        <p:spPr>
          <a:xfrm>
            <a:off x="685800" y="3154680"/>
            <a:ext cx="3246120" cy="1188720"/>
          </a:xfrm>
          <a:prstGeom prst="roundRect">
            <a:avLst>
              <a:gd name="adj" fmla="val 6154"/>
            </a:avLst>
          </a:prstGeom>
          <a:solidFill>
            <a:srgbClr val="FFFFFF"/>
          </a:solidFill>
          <a:ln w="12700">
            <a:solidFill>
              <a:srgbClr val="D7E5E0">
                <a:alpha val="90000"/>
              </a:srgbClr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886968" y="3355848"/>
            <a:ext cx="2843784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2252B"/>
                </a:solidFill>
              </a:rPr>
              <a:t>DTO/Validation</a:t>
            </a:r>
            <a:endParaRPr lang="en-US" sz="1500" dirty="0"/>
          </a:p>
        </p:txBody>
      </p:sp>
      <p:sp>
        <p:nvSpPr>
          <p:cNvPr id="16" name="Text 14"/>
          <p:cNvSpPr/>
          <p:nvPr/>
        </p:nvSpPr>
        <p:spPr>
          <a:xfrm>
            <a:off x="886968" y="3767328"/>
            <a:ext cx="2843784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150" dirty="0">
                <a:solidFill>
                  <a:srgbClr val="5D7078"/>
                </a:solidFill>
              </a:rPr>
              <a:t>Zod schemas validate requests</a:t>
            </a:r>
            <a:endParaRPr lang="en-US" sz="1150" dirty="0"/>
          </a:p>
        </p:txBody>
      </p:sp>
      <p:sp>
        <p:nvSpPr>
          <p:cNvPr id="17" name="Shape 15"/>
          <p:cNvSpPr/>
          <p:nvPr/>
        </p:nvSpPr>
        <p:spPr>
          <a:xfrm>
            <a:off x="4480560" y="3154680"/>
            <a:ext cx="3246120" cy="1188720"/>
          </a:xfrm>
          <a:prstGeom prst="roundRect">
            <a:avLst>
              <a:gd name="adj" fmla="val 6154"/>
            </a:avLst>
          </a:prstGeom>
          <a:solidFill>
            <a:srgbClr val="FFFFFF"/>
          </a:solidFill>
          <a:ln w="12700">
            <a:solidFill>
              <a:srgbClr val="D7E5E0">
                <a:alpha val="90000"/>
              </a:srgbClr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4681728" y="3355848"/>
            <a:ext cx="2843784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2252B"/>
                </a:solidFill>
              </a:rPr>
              <a:t>Entity</a:t>
            </a:r>
            <a:endParaRPr lang="en-US" sz="1500" dirty="0"/>
          </a:p>
        </p:txBody>
      </p:sp>
      <p:sp>
        <p:nvSpPr>
          <p:cNvPr id="19" name="Text 17"/>
          <p:cNvSpPr/>
          <p:nvPr/>
        </p:nvSpPr>
        <p:spPr>
          <a:xfrm>
            <a:off x="4681728" y="3767328"/>
            <a:ext cx="2843784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150" dirty="0">
                <a:solidFill>
                  <a:srgbClr val="5D7078"/>
                </a:solidFill>
              </a:rPr>
              <a:t>Habit and HabitLog enforce domain invariants</a:t>
            </a:r>
            <a:endParaRPr lang="en-US" sz="1150" dirty="0"/>
          </a:p>
        </p:txBody>
      </p:sp>
      <p:sp>
        <p:nvSpPr>
          <p:cNvPr id="20" name="Shape 18"/>
          <p:cNvSpPr/>
          <p:nvPr/>
        </p:nvSpPr>
        <p:spPr>
          <a:xfrm>
            <a:off x="8275320" y="3154680"/>
            <a:ext cx="3246120" cy="1188720"/>
          </a:xfrm>
          <a:prstGeom prst="roundRect">
            <a:avLst>
              <a:gd name="adj" fmla="val 6154"/>
            </a:avLst>
          </a:prstGeom>
          <a:solidFill>
            <a:srgbClr val="FFFFFF"/>
          </a:solidFill>
          <a:ln w="12700">
            <a:solidFill>
              <a:srgbClr val="D7E5E0">
                <a:alpha val="90000"/>
              </a:srgbClr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8476488" y="3355848"/>
            <a:ext cx="2843784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2252B"/>
                </a:solidFill>
              </a:rPr>
              <a:t>Service Layer</a:t>
            </a:r>
            <a:endParaRPr lang="en-US" sz="1500" dirty="0"/>
          </a:p>
        </p:txBody>
      </p:sp>
      <p:sp>
        <p:nvSpPr>
          <p:cNvPr id="22" name="Text 20"/>
          <p:cNvSpPr/>
          <p:nvPr/>
        </p:nvSpPr>
        <p:spPr>
          <a:xfrm>
            <a:off x="8476488" y="3767328"/>
            <a:ext cx="2843784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150" dirty="0">
                <a:solidFill>
                  <a:srgbClr val="5D7078"/>
                </a:solidFill>
              </a:rPr>
              <a:t>HabitService and AuthService coordinate workflows</a:t>
            </a:r>
            <a:endParaRPr lang="en-US" sz="1150" dirty="0"/>
          </a:p>
        </p:txBody>
      </p:sp>
      <p:sp>
        <p:nvSpPr>
          <p:cNvPr id="23" name="Text 21"/>
          <p:cNvSpPr/>
          <p:nvPr/>
        </p:nvSpPr>
        <p:spPr>
          <a:xfrm>
            <a:off x="11109960" y="6355080"/>
            <a:ext cx="457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D7078"/>
                </a:solidFill>
              </a:rPr>
              <a:t>09</a:t>
            </a:r>
            <a:endParaRPr lang="en-US" sz="9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4F8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087E8B"/>
          </a:solidFill>
          <a:ln w="12700">
            <a:solidFill>
              <a:srgbClr val="087E8B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94360" y="347472"/>
            <a:ext cx="23774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087E8B"/>
                </a:solidFill>
              </a:rPr>
              <a:t>HabitFlow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594360" y="667512"/>
            <a:ext cx="74980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2252B"/>
                </a:solidFill>
              </a:rPr>
              <a:t>System Flow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685800" y="1325880"/>
            <a:ext cx="3246120" cy="1005840"/>
          </a:xfrm>
          <a:prstGeom prst="roundRect">
            <a:avLst>
              <a:gd name="adj" fmla="val 7273"/>
            </a:avLst>
          </a:prstGeom>
          <a:solidFill>
            <a:srgbClr val="FFFFFF"/>
          </a:solidFill>
          <a:ln w="12700">
            <a:solidFill>
              <a:srgbClr val="D7E5E0">
                <a:alpha val="90000"/>
              </a:srgbClr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886968" y="1527048"/>
            <a:ext cx="2843784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2252B"/>
                </a:solidFill>
              </a:rPr>
              <a:t>1</a:t>
            </a:r>
            <a:endParaRPr lang="en-US" sz="1500" dirty="0"/>
          </a:p>
        </p:txBody>
      </p:sp>
      <p:sp>
        <p:nvSpPr>
          <p:cNvPr id="7" name="Text 5"/>
          <p:cNvSpPr/>
          <p:nvPr/>
        </p:nvSpPr>
        <p:spPr>
          <a:xfrm>
            <a:off x="886968" y="1938528"/>
            <a:ext cx="2843784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150" dirty="0">
                <a:solidFill>
                  <a:srgbClr val="5D7078"/>
                </a:solidFill>
              </a:rPr>
              <a:t>User uses browser or Flutter client</a:t>
            </a:r>
            <a:endParaRPr lang="en-US" sz="1150" dirty="0"/>
          </a:p>
        </p:txBody>
      </p:sp>
      <p:sp>
        <p:nvSpPr>
          <p:cNvPr id="8" name="Shape 6"/>
          <p:cNvSpPr/>
          <p:nvPr/>
        </p:nvSpPr>
        <p:spPr>
          <a:xfrm>
            <a:off x="4480560" y="1325880"/>
            <a:ext cx="3246120" cy="1005840"/>
          </a:xfrm>
          <a:prstGeom prst="roundRect">
            <a:avLst>
              <a:gd name="adj" fmla="val 7273"/>
            </a:avLst>
          </a:prstGeom>
          <a:solidFill>
            <a:srgbClr val="EEF7F4"/>
          </a:solidFill>
          <a:ln w="12700">
            <a:solidFill>
              <a:srgbClr val="D7E5E0">
                <a:alpha val="90000"/>
              </a:srgbClr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4681728" y="1527048"/>
            <a:ext cx="2843784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2252B"/>
                </a:solidFill>
              </a:rPr>
              <a:t>2</a:t>
            </a:r>
            <a:endParaRPr lang="en-US" sz="1500" dirty="0"/>
          </a:p>
        </p:txBody>
      </p:sp>
      <p:sp>
        <p:nvSpPr>
          <p:cNvPr id="10" name="Text 8"/>
          <p:cNvSpPr/>
          <p:nvPr/>
        </p:nvSpPr>
        <p:spPr>
          <a:xfrm>
            <a:off x="4681728" y="1938528"/>
            <a:ext cx="2843784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150" dirty="0">
                <a:solidFill>
                  <a:srgbClr val="5D7078"/>
                </a:solidFill>
              </a:rPr>
              <a:t>Frontend calls NestJS REST API</a:t>
            </a:r>
            <a:endParaRPr lang="en-US" sz="1150" dirty="0"/>
          </a:p>
        </p:txBody>
      </p:sp>
      <p:sp>
        <p:nvSpPr>
          <p:cNvPr id="11" name="Shape 9"/>
          <p:cNvSpPr/>
          <p:nvPr/>
        </p:nvSpPr>
        <p:spPr>
          <a:xfrm>
            <a:off x="8275320" y="1325880"/>
            <a:ext cx="3246120" cy="1005840"/>
          </a:xfrm>
          <a:prstGeom prst="roundRect">
            <a:avLst>
              <a:gd name="adj" fmla="val 7273"/>
            </a:avLst>
          </a:prstGeom>
          <a:solidFill>
            <a:srgbClr val="FFFFFF"/>
          </a:solidFill>
          <a:ln w="12700">
            <a:solidFill>
              <a:srgbClr val="D7E5E0">
                <a:alpha val="90000"/>
              </a:srgbClr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8476488" y="1527048"/>
            <a:ext cx="2843784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2252B"/>
                </a:solidFill>
              </a:rPr>
              <a:t>3</a:t>
            </a:r>
            <a:endParaRPr lang="en-US" sz="1500" dirty="0"/>
          </a:p>
        </p:txBody>
      </p:sp>
      <p:sp>
        <p:nvSpPr>
          <p:cNvPr id="13" name="Text 11"/>
          <p:cNvSpPr/>
          <p:nvPr/>
        </p:nvSpPr>
        <p:spPr>
          <a:xfrm>
            <a:off x="8476488" y="1938528"/>
            <a:ext cx="2843784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150" dirty="0">
                <a:solidFill>
                  <a:srgbClr val="5D7078"/>
                </a:solidFill>
              </a:rPr>
              <a:t>Controller validates request with Zod</a:t>
            </a:r>
            <a:endParaRPr lang="en-US" sz="1150" dirty="0"/>
          </a:p>
        </p:txBody>
      </p:sp>
      <p:sp>
        <p:nvSpPr>
          <p:cNvPr id="14" name="Shape 12"/>
          <p:cNvSpPr/>
          <p:nvPr/>
        </p:nvSpPr>
        <p:spPr>
          <a:xfrm>
            <a:off x="685800" y="2971800"/>
            <a:ext cx="3246120" cy="1005840"/>
          </a:xfrm>
          <a:prstGeom prst="roundRect">
            <a:avLst>
              <a:gd name="adj" fmla="val 7273"/>
            </a:avLst>
          </a:prstGeom>
          <a:solidFill>
            <a:srgbClr val="EEF7F4"/>
          </a:solidFill>
          <a:ln w="12700">
            <a:solidFill>
              <a:srgbClr val="D7E5E0">
                <a:alpha val="90000"/>
              </a:srgbClr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886968" y="3172968"/>
            <a:ext cx="2843784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2252B"/>
                </a:solidFill>
              </a:rPr>
              <a:t>4</a:t>
            </a:r>
            <a:endParaRPr lang="en-US" sz="1500" dirty="0"/>
          </a:p>
        </p:txBody>
      </p:sp>
      <p:sp>
        <p:nvSpPr>
          <p:cNvPr id="16" name="Text 14"/>
          <p:cNvSpPr/>
          <p:nvPr/>
        </p:nvSpPr>
        <p:spPr>
          <a:xfrm>
            <a:off x="886968" y="3584448"/>
            <a:ext cx="2843784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150" dirty="0">
                <a:solidFill>
                  <a:srgbClr val="5D7078"/>
                </a:solidFill>
              </a:rPr>
              <a:t>Application service applies business rules</a:t>
            </a:r>
            <a:endParaRPr lang="en-US" sz="1150" dirty="0"/>
          </a:p>
        </p:txBody>
      </p:sp>
      <p:sp>
        <p:nvSpPr>
          <p:cNvPr id="17" name="Shape 15"/>
          <p:cNvSpPr/>
          <p:nvPr/>
        </p:nvSpPr>
        <p:spPr>
          <a:xfrm>
            <a:off x="4480560" y="2971800"/>
            <a:ext cx="3246120" cy="1005840"/>
          </a:xfrm>
          <a:prstGeom prst="roundRect">
            <a:avLst>
              <a:gd name="adj" fmla="val 7273"/>
            </a:avLst>
          </a:prstGeom>
          <a:solidFill>
            <a:srgbClr val="FFFFFF"/>
          </a:solidFill>
          <a:ln w="12700">
            <a:solidFill>
              <a:srgbClr val="D7E5E0">
                <a:alpha val="90000"/>
              </a:srgbClr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4681728" y="3172968"/>
            <a:ext cx="2843784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2252B"/>
                </a:solidFill>
              </a:rPr>
              <a:t>5</a:t>
            </a:r>
            <a:endParaRPr lang="en-US" sz="1500" dirty="0"/>
          </a:p>
        </p:txBody>
      </p:sp>
      <p:sp>
        <p:nvSpPr>
          <p:cNvPr id="19" name="Text 17"/>
          <p:cNvSpPr/>
          <p:nvPr/>
        </p:nvSpPr>
        <p:spPr>
          <a:xfrm>
            <a:off x="4681728" y="3584448"/>
            <a:ext cx="2843784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150" dirty="0">
                <a:solidFill>
                  <a:srgbClr val="5D7078"/>
                </a:solidFill>
              </a:rPr>
              <a:t>Repository reads/writes data</a:t>
            </a:r>
            <a:endParaRPr lang="en-US" sz="1150" dirty="0"/>
          </a:p>
        </p:txBody>
      </p:sp>
      <p:sp>
        <p:nvSpPr>
          <p:cNvPr id="20" name="Shape 18"/>
          <p:cNvSpPr/>
          <p:nvPr/>
        </p:nvSpPr>
        <p:spPr>
          <a:xfrm>
            <a:off x="8275320" y="2971800"/>
            <a:ext cx="3246120" cy="1005840"/>
          </a:xfrm>
          <a:prstGeom prst="roundRect">
            <a:avLst>
              <a:gd name="adj" fmla="val 7273"/>
            </a:avLst>
          </a:prstGeom>
          <a:solidFill>
            <a:srgbClr val="EEF7F4"/>
          </a:solidFill>
          <a:ln w="12700">
            <a:solidFill>
              <a:srgbClr val="D7E5E0">
                <a:alpha val="90000"/>
              </a:srgbClr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8476488" y="3172968"/>
            <a:ext cx="2843784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2252B"/>
                </a:solidFill>
              </a:rPr>
              <a:t>6</a:t>
            </a:r>
            <a:endParaRPr lang="en-US" sz="1500" dirty="0"/>
          </a:p>
        </p:txBody>
      </p:sp>
      <p:sp>
        <p:nvSpPr>
          <p:cNvPr id="22" name="Text 20"/>
          <p:cNvSpPr/>
          <p:nvPr/>
        </p:nvSpPr>
        <p:spPr>
          <a:xfrm>
            <a:off x="8476488" y="3584448"/>
            <a:ext cx="2843784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150" dirty="0">
                <a:solidFill>
                  <a:srgbClr val="5D7078"/>
                </a:solidFill>
              </a:rPr>
              <a:t>JSON response is returned</a:t>
            </a:r>
            <a:endParaRPr lang="en-US" sz="1150" dirty="0"/>
          </a:p>
        </p:txBody>
      </p:sp>
      <p:sp>
        <p:nvSpPr>
          <p:cNvPr id="23" name="Text 21"/>
          <p:cNvSpPr/>
          <p:nvPr/>
        </p:nvSpPr>
        <p:spPr>
          <a:xfrm>
            <a:off x="11109960" y="6355080"/>
            <a:ext cx="457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D7078"/>
                </a:solidFill>
              </a:rPr>
              <a:t>10</a:t>
            </a:r>
            <a:endParaRPr lang="en-US" sz="9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4F8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087E8B"/>
          </a:solidFill>
          <a:ln w="12700">
            <a:solidFill>
              <a:srgbClr val="087E8B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94360" y="347472"/>
            <a:ext cx="23774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087E8B"/>
                </a:solidFill>
              </a:rPr>
              <a:t>HabitFlow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594360" y="667512"/>
            <a:ext cx="74980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2252B"/>
                </a:solidFill>
              </a:rPr>
              <a:t>Database Design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777240" y="1417320"/>
            <a:ext cx="4937760" cy="1417320"/>
          </a:xfrm>
          <a:prstGeom prst="roundRect">
            <a:avLst>
              <a:gd name="adj" fmla="val 5161"/>
            </a:avLst>
          </a:prstGeom>
          <a:solidFill>
            <a:srgbClr val="FFFFFF"/>
          </a:solidFill>
          <a:ln w="12700">
            <a:solidFill>
              <a:srgbClr val="D7E5E0">
                <a:alpha val="90000"/>
              </a:srgbClr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978408" y="1618488"/>
            <a:ext cx="4535424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2252B"/>
                </a:solidFill>
              </a:rPr>
              <a:t>habits</a:t>
            </a:r>
            <a:endParaRPr lang="en-US" sz="1500" dirty="0"/>
          </a:p>
        </p:txBody>
      </p:sp>
      <p:sp>
        <p:nvSpPr>
          <p:cNvPr id="7" name="Text 5"/>
          <p:cNvSpPr/>
          <p:nvPr/>
        </p:nvSpPr>
        <p:spPr>
          <a:xfrm>
            <a:off x="978408" y="2029968"/>
            <a:ext cx="4535424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150" dirty="0">
                <a:solidFill>
                  <a:srgbClr val="5D7078"/>
                </a:solidFill>
              </a:rPr>
              <a:t>Habit definition: title, type, schedule days, start/end date, reminder time, active state.</a:t>
            </a:r>
            <a:endParaRPr lang="en-US" sz="1150" dirty="0"/>
          </a:p>
        </p:txBody>
      </p:sp>
      <p:sp>
        <p:nvSpPr>
          <p:cNvPr id="8" name="Shape 6"/>
          <p:cNvSpPr/>
          <p:nvPr/>
        </p:nvSpPr>
        <p:spPr>
          <a:xfrm>
            <a:off x="6126480" y="1417320"/>
            <a:ext cx="4937760" cy="1417320"/>
          </a:xfrm>
          <a:prstGeom prst="roundRect">
            <a:avLst>
              <a:gd name="adj" fmla="val 5161"/>
            </a:avLst>
          </a:prstGeom>
          <a:solidFill>
            <a:srgbClr val="FFFFFF"/>
          </a:solidFill>
          <a:ln w="12700">
            <a:solidFill>
              <a:srgbClr val="D7E5E0">
                <a:alpha val="90000"/>
              </a:srgbClr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6327648" y="1618488"/>
            <a:ext cx="4535424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2252B"/>
                </a:solidFill>
              </a:rPr>
              <a:t>habit_logs</a:t>
            </a:r>
            <a:endParaRPr lang="en-US" sz="1500" dirty="0"/>
          </a:p>
        </p:txBody>
      </p:sp>
      <p:sp>
        <p:nvSpPr>
          <p:cNvPr id="10" name="Text 8"/>
          <p:cNvSpPr/>
          <p:nvPr/>
        </p:nvSpPr>
        <p:spPr>
          <a:xfrm>
            <a:off x="6327648" y="2029968"/>
            <a:ext cx="4535424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150" dirty="0">
                <a:solidFill>
                  <a:srgbClr val="5D7078"/>
                </a:solidFill>
              </a:rPr>
              <a:t>Per-date status: completed, failed, skipped. Unique habit/date pair prevents duplicates.</a:t>
            </a:r>
            <a:endParaRPr lang="en-US" sz="1150" dirty="0"/>
          </a:p>
        </p:txBody>
      </p:sp>
      <p:sp>
        <p:nvSpPr>
          <p:cNvPr id="11" name="Text 9"/>
          <p:cNvSpPr/>
          <p:nvPr/>
        </p:nvSpPr>
        <p:spPr>
          <a:xfrm>
            <a:off x="868680" y="3657600"/>
            <a:ext cx="8686800" cy="438912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ctr">
            <a:normAutofit/>
          </a:bodyPr>
          <a:lstStyle/>
          <a:p>
            <a:r>
              <a:rPr lang="en-US" sz="1700" dirty="0">
                <a:solidFill>
                  <a:srgbClr val="12252B"/>
                </a:solidFill>
              </a:rPr>
              <a:t>Soft delete keeps old logs and stops future scheduling.</a:t>
            </a:r>
            <a:endParaRPr lang="en-US" sz="1700" dirty="0"/>
          </a:p>
          <a:p>
            <a:r>
              <a:rPr lang="en-US" sz="1700" dirty="0">
                <a:solidFill>
                  <a:srgbClr val="12252B"/>
                </a:solidFill>
              </a:rPr>
              <a:t>History and achievements use logs plus schedule rules.</a:t>
            </a:r>
            <a:endParaRPr lang="en-US" sz="1700" dirty="0"/>
          </a:p>
          <a:p>
            <a:r>
              <a:rPr lang="en-US" sz="1700" dirty="0">
                <a:solidFill>
                  <a:srgbClr val="12252B"/>
                </a:solidFill>
              </a:rPr>
              <a:t>PostgreSQL schema lives in migrations/001_init.sql.</a:t>
            </a:r>
            <a:endParaRPr lang="en-US" sz="1700" dirty="0"/>
          </a:p>
        </p:txBody>
      </p:sp>
      <p:sp>
        <p:nvSpPr>
          <p:cNvPr id="12" name="Text 10"/>
          <p:cNvSpPr/>
          <p:nvPr/>
        </p:nvSpPr>
        <p:spPr>
          <a:xfrm>
            <a:off x="11109960" y="6355080"/>
            <a:ext cx="457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D7078"/>
                </a:solidFill>
              </a:rPr>
              <a:t>11</a:t>
            </a:r>
            <a:endParaRPr lang="en-US" sz="9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4F8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087E8B"/>
          </a:solidFill>
          <a:ln w="12700">
            <a:solidFill>
              <a:srgbClr val="087E8B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94360" y="347472"/>
            <a:ext cx="23774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087E8B"/>
                </a:solidFill>
              </a:rPr>
              <a:t>HabitFlow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594360" y="667512"/>
            <a:ext cx="74980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2252B"/>
                </a:solidFill>
              </a:rPr>
              <a:t>API Design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77240" y="1325880"/>
            <a:ext cx="9875520" cy="438912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ctr">
            <a:normAutofit/>
          </a:bodyPr>
          <a:lstStyle/>
          <a:p>
            <a:r>
              <a:rPr lang="en-US" sz="1450" dirty="0">
                <a:solidFill>
                  <a:srgbClr val="12252B"/>
                </a:solidFill>
              </a:rPr>
              <a:t>GET /health</a:t>
            </a:r>
            <a:endParaRPr lang="en-US" sz="1450" dirty="0"/>
          </a:p>
          <a:p>
            <a:r>
              <a:rPr lang="en-US" sz="1450" dirty="0">
                <a:solidFill>
                  <a:srgbClr val="12252B"/>
                </a:solidFill>
              </a:rPr>
              <a:t>POST /api/auth/register</a:t>
            </a:r>
            <a:endParaRPr lang="en-US" sz="1450" dirty="0"/>
          </a:p>
          <a:p>
            <a:r>
              <a:rPr lang="en-US" sz="1450" dirty="0">
                <a:solidFill>
                  <a:srgbClr val="12252B"/>
                </a:solidFill>
              </a:rPr>
              <a:t>POST /api/auth/login</a:t>
            </a:r>
            <a:endParaRPr lang="en-US" sz="1450" dirty="0"/>
          </a:p>
          <a:p>
            <a:r>
              <a:rPr lang="en-US" sz="1450" dirty="0">
                <a:solidFill>
                  <a:srgbClr val="12252B"/>
                </a:solidFill>
              </a:rPr>
              <a:t>GET /api/habits/day?date=YYYY-MM-DD</a:t>
            </a:r>
            <a:endParaRPr lang="en-US" sz="1450" dirty="0"/>
          </a:p>
          <a:p>
            <a:r>
              <a:rPr lang="en-US" sz="1450" dirty="0">
                <a:solidFill>
                  <a:srgbClr val="12252B"/>
                </a:solidFill>
              </a:rPr>
              <a:t>POST /api/habits</a:t>
            </a:r>
            <a:endParaRPr lang="en-US" sz="1450" dirty="0"/>
          </a:p>
          <a:p>
            <a:r>
              <a:rPr lang="en-US" sz="1450" dirty="0">
                <a:solidFill>
                  <a:srgbClr val="12252B"/>
                </a:solidFill>
              </a:rPr>
              <a:t>PATCH /api/habits/:id</a:t>
            </a:r>
            <a:endParaRPr lang="en-US" sz="1450" dirty="0"/>
          </a:p>
          <a:p>
            <a:r>
              <a:rPr lang="en-US" sz="1450" dirty="0">
                <a:solidFill>
                  <a:srgbClr val="12252B"/>
                </a:solidFill>
              </a:rPr>
              <a:t>DELETE /api/habits/:id?effectiveDate=YYYY-MM-DD</a:t>
            </a:r>
            <a:endParaRPr lang="en-US" sz="1450" dirty="0"/>
          </a:p>
          <a:p>
            <a:r>
              <a:rPr lang="en-US" sz="1450" dirty="0">
                <a:solidFill>
                  <a:srgbClr val="12252B"/>
                </a:solidFill>
              </a:rPr>
              <a:t>POST /api/habits/:id/logs</a:t>
            </a:r>
            <a:endParaRPr lang="en-US" sz="1450" dirty="0"/>
          </a:p>
          <a:p>
            <a:r>
              <a:rPr lang="en-US" sz="1450" dirty="0">
                <a:solidFill>
                  <a:srgbClr val="12252B"/>
                </a:solidFill>
              </a:rPr>
              <a:t>GET /api/habits/history?month=YYYY-MM</a:t>
            </a:r>
            <a:endParaRPr lang="en-US" sz="1450" dirty="0"/>
          </a:p>
          <a:p>
            <a:r>
              <a:rPr lang="en-US" sz="1450" dirty="0">
                <a:solidFill>
                  <a:srgbClr val="12252B"/>
                </a:solidFill>
              </a:rPr>
              <a:t>GET /api/habits/history/day?date=YYYY-MM-DD</a:t>
            </a:r>
            <a:endParaRPr lang="en-US" sz="1450" dirty="0"/>
          </a:p>
        </p:txBody>
      </p:sp>
      <p:sp>
        <p:nvSpPr>
          <p:cNvPr id="6" name="Text 4"/>
          <p:cNvSpPr/>
          <p:nvPr/>
        </p:nvSpPr>
        <p:spPr>
          <a:xfrm>
            <a:off x="11109960" y="6355080"/>
            <a:ext cx="457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D7078"/>
                </a:solidFill>
              </a:rPr>
              <a:t>12</a:t>
            </a:r>
            <a:endParaRPr lang="en-US" sz="9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4F8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087E8B"/>
          </a:solidFill>
          <a:ln w="12700">
            <a:solidFill>
              <a:srgbClr val="087E8B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94360" y="347472"/>
            <a:ext cx="23774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087E8B"/>
                </a:solidFill>
              </a:rPr>
              <a:t>HabitFlow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594360" y="667512"/>
            <a:ext cx="74980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2252B"/>
                </a:solidFill>
              </a:rPr>
              <a:t>Project Evaluation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77240" y="1371600"/>
            <a:ext cx="7680960" cy="438912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ctr">
            <a:normAutofit/>
          </a:bodyPr>
          <a:lstStyle/>
          <a:p>
            <a:r>
              <a:rPr lang="en-US" sz="1700" dirty="0">
                <a:solidFill>
                  <a:srgbClr val="12252B"/>
                </a:solidFill>
              </a:rPr>
              <a:t>NestJS main framework requirement is satisfied.</a:t>
            </a:r>
            <a:endParaRPr lang="en-US" sz="1700" dirty="0"/>
          </a:p>
          <a:p>
            <a:r>
              <a:rPr lang="en-US" sz="1700" dirty="0">
                <a:solidFill>
                  <a:srgbClr val="12252B"/>
                </a:solidFill>
              </a:rPr>
              <a:t>Architecture style is documented and justified.</a:t>
            </a:r>
            <a:endParaRPr lang="en-US" sz="1700" dirty="0"/>
          </a:p>
          <a:p>
            <a:r>
              <a:rPr lang="en-US" sz="1700" dirty="0">
                <a:solidFill>
                  <a:srgbClr val="12252B"/>
                </a:solidFill>
              </a:rPr>
              <a:t>Design patterns are mapped to source files.</a:t>
            </a:r>
            <a:endParaRPr lang="en-US" sz="1700" dirty="0"/>
          </a:p>
          <a:p>
            <a:r>
              <a:rPr lang="en-US" sz="1700" dirty="0">
                <a:solidFill>
                  <a:srgbClr val="12252B"/>
                </a:solidFill>
              </a:rPr>
              <a:t>Business rules are covered by Jest tests.</a:t>
            </a:r>
            <a:endParaRPr lang="en-US" sz="1700" dirty="0"/>
          </a:p>
          <a:p>
            <a:r>
              <a:rPr lang="en-US" sz="1700" dirty="0">
                <a:solidFill>
                  <a:srgbClr val="12252B"/>
                </a:solidFill>
              </a:rPr>
              <a:t>GitHub repository contains source code, README, docs, PPT, and report.</a:t>
            </a:r>
            <a:endParaRPr lang="en-US" sz="1700" dirty="0"/>
          </a:p>
          <a:p>
            <a:r>
              <a:rPr lang="en-US" sz="1700" dirty="0">
                <a:solidFill>
                  <a:srgbClr val="12252B"/>
                </a:solidFill>
              </a:rPr>
              <a:t>Frontend demo supports the backend workflow.</a:t>
            </a:r>
            <a:endParaRPr lang="en-US" sz="1700" dirty="0"/>
          </a:p>
        </p:txBody>
      </p:sp>
      <p:sp>
        <p:nvSpPr>
          <p:cNvPr id="6" name="Shape 4"/>
          <p:cNvSpPr/>
          <p:nvPr/>
        </p:nvSpPr>
        <p:spPr>
          <a:xfrm>
            <a:off x="8549640" y="1645920"/>
            <a:ext cx="2560320" cy="1371600"/>
          </a:xfrm>
          <a:prstGeom prst="roundRect">
            <a:avLst>
              <a:gd name="adj" fmla="val 5333"/>
            </a:avLst>
          </a:prstGeom>
          <a:solidFill>
            <a:srgbClr val="FFFFFF"/>
          </a:solidFill>
          <a:ln w="12700">
            <a:solidFill>
              <a:srgbClr val="D7E5E0">
                <a:alpha val="90000"/>
              </a:srgbClr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8750808" y="1847088"/>
            <a:ext cx="2157984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2252B"/>
                </a:solidFill>
              </a:rPr>
              <a:t>Validation</a:t>
            </a:r>
            <a:endParaRPr lang="en-US" sz="1500" dirty="0"/>
          </a:p>
        </p:txBody>
      </p:sp>
      <p:sp>
        <p:nvSpPr>
          <p:cNvPr id="8" name="Text 6"/>
          <p:cNvSpPr/>
          <p:nvPr/>
        </p:nvSpPr>
        <p:spPr>
          <a:xfrm>
            <a:off x="8750808" y="2258568"/>
            <a:ext cx="2157984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150" dirty="0">
                <a:solidFill>
                  <a:srgbClr val="5D7078"/>
                </a:solidFill>
              </a:rPr>
              <a:t>npm run build and npm test pass successfully.</a:t>
            </a:r>
            <a:endParaRPr lang="en-US" sz="1150" dirty="0"/>
          </a:p>
        </p:txBody>
      </p:sp>
      <p:sp>
        <p:nvSpPr>
          <p:cNvPr id="9" name="Text 7"/>
          <p:cNvSpPr/>
          <p:nvPr/>
        </p:nvSpPr>
        <p:spPr>
          <a:xfrm>
            <a:off x="11109960" y="6355080"/>
            <a:ext cx="457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D7078"/>
                </a:solidFill>
              </a:rPr>
              <a:t>13</a:t>
            </a:r>
            <a:endParaRPr lang="en-US" sz="9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4F8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087E8B"/>
          </a:solidFill>
          <a:ln w="12700">
            <a:solidFill>
              <a:srgbClr val="087E8B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94360" y="347472"/>
            <a:ext cx="23774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087E8B"/>
                </a:solidFill>
              </a:rPr>
              <a:t>HabitFlow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594360" y="667512"/>
            <a:ext cx="74980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2252B"/>
                </a:solidFill>
              </a:rPr>
              <a:t>Benefits of Architecture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77240" y="1417320"/>
            <a:ext cx="8595360" cy="438912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ctr">
            <a:normAutofit/>
          </a:bodyPr>
          <a:lstStyle/>
          <a:p>
            <a:r>
              <a:rPr lang="en-US" sz="1700" dirty="0">
                <a:solidFill>
                  <a:srgbClr val="12252B"/>
                </a:solidFill>
              </a:rPr>
              <a:t>Clear separation of responsibilities.</a:t>
            </a:r>
            <a:endParaRPr lang="en-US" sz="1700" dirty="0"/>
          </a:p>
          <a:p>
            <a:r>
              <a:rPr lang="en-US" sz="1700" dirty="0">
                <a:solidFill>
                  <a:srgbClr val="12252B"/>
                </a:solidFill>
              </a:rPr>
              <a:t>Business logic is independent from HTTP and SQL.</a:t>
            </a:r>
            <a:endParaRPr lang="en-US" sz="1700" dirty="0"/>
          </a:p>
          <a:p>
            <a:r>
              <a:rPr lang="en-US" sz="1700" dirty="0">
                <a:solidFill>
                  <a:srgbClr val="12252B"/>
                </a:solidFill>
              </a:rPr>
              <a:t>Repository pattern allows memory and PostgreSQL modes.</a:t>
            </a:r>
            <a:endParaRPr lang="en-US" sz="1700" dirty="0"/>
          </a:p>
          <a:p>
            <a:r>
              <a:rPr lang="en-US" sz="1700" dirty="0">
                <a:solidFill>
                  <a:srgbClr val="12252B"/>
                </a:solidFill>
              </a:rPr>
              <a:t>Dependency injection reduces coupling.</a:t>
            </a:r>
            <a:endParaRPr lang="en-US" sz="1700" dirty="0"/>
          </a:p>
          <a:p>
            <a:r>
              <a:rPr lang="en-US" sz="1700" dirty="0">
                <a:solidFill>
                  <a:srgbClr val="12252B"/>
                </a:solidFill>
              </a:rPr>
              <a:t>Service modules can later become independent microservices.</a:t>
            </a:r>
            <a:endParaRPr lang="en-US" sz="1700" dirty="0"/>
          </a:p>
          <a:p>
            <a:r>
              <a:rPr lang="en-US" sz="1700" dirty="0">
                <a:solidFill>
                  <a:srgbClr val="12252B"/>
                </a:solidFill>
              </a:rPr>
              <a:t>Documentation directly links theory to implementation.</a:t>
            </a:r>
            <a:endParaRPr lang="en-US" sz="1700" dirty="0"/>
          </a:p>
        </p:txBody>
      </p:sp>
      <p:sp>
        <p:nvSpPr>
          <p:cNvPr id="6" name="Text 4"/>
          <p:cNvSpPr/>
          <p:nvPr/>
        </p:nvSpPr>
        <p:spPr>
          <a:xfrm>
            <a:off x="11109960" y="6355080"/>
            <a:ext cx="457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D7078"/>
                </a:solidFill>
              </a:rPr>
              <a:t>14</a:t>
            </a:r>
            <a:endParaRPr lang="en-US" sz="9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4F8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087E8B"/>
          </a:solidFill>
          <a:ln w="12700">
            <a:solidFill>
              <a:srgbClr val="087E8B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94360" y="347472"/>
            <a:ext cx="23774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087E8B"/>
                </a:solidFill>
              </a:rPr>
              <a:t>HabitFlow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594360" y="667512"/>
            <a:ext cx="74980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2252B"/>
                </a:solidFill>
              </a:rPr>
              <a:t>Documentation and Deliverables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77240" y="1325880"/>
            <a:ext cx="9966960" cy="438912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ctr">
            <a:normAutofit/>
          </a:bodyPr>
          <a:lstStyle/>
          <a:p>
            <a:r>
              <a:rPr lang="en-US" sz="1600" dirty="0">
                <a:solidFill>
                  <a:srgbClr val="12252B"/>
                </a:solidFill>
              </a:rPr>
              <a:t>README.md: setup, architecture summary, collection checklist.</a:t>
            </a:r>
            <a:endParaRPr lang="en-US" sz="1600" dirty="0"/>
          </a:p>
          <a:p>
            <a:r>
              <a:rPr lang="en-US" sz="1600" dirty="0">
                <a:solidFill>
                  <a:srgbClr val="12252B"/>
                </a:solidFill>
              </a:rPr>
              <a:t>.env.example: environment template and explanation.</a:t>
            </a:r>
            <a:endParaRPr lang="en-US" sz="1600" dirty="0"/>
          </a:p>
          <a:p>
            <a:r>
              <a:rPr lang="en-US" sz="1600" dirty="0">
                <a:solidFill>
                  <a:srgbClr val="12252B"/>
                </a:solidFill>
              </a:rPr>
              <a:t>docs/documentation.md: app documentation.</a:t>
            </a:r>
            <a:endParaRPr lang="en-US" sz="1600" dirty="0"/>
          </a:p>
          <a:p>
            <a:r>
              <a:rPr lang="en-US" sz="1600" dirty="0">
                <a:solidFill>
                  <a:srgbClr val="12252B"/>
                </a:solidFill>
              </a:rPr>
              <a:t>docs/architecture-and-theory.md: theory and source mapping.</a:t>
            </a:r>
            <a:endParaRPr lang="en-US" sz="1600" dirty="0"/>
          </a:p>
          <a:p>
            <a:r>
              <a:rPr lang="en-US" sz="1600" dirty="0">
                <a:solidFill>
                  <a:srgbClr val="12252B"/>
                </a:solidFill>
              </a:rPr>
              <a:t>docs/project-report.md and Project_Report_HabitFlow.docx: project report.</a:t>
            </a:r>
            <a:endParaRPr lang="en-US" sz="1600" dirty="0"/>
          </a:p>
          <a:p>
            <a:r>
              <a:rPr lang="en-US" sz="1600" dirty="0">
                <a:solidFill>
                  <a:srgbClr val="12252B"/>
                </a:solidFill>
              </a:rPr>
              <a:t>docs/Habit_Tracker_Presentation.pptx: presentation.</a:t>
            </a:r>
            <a:endParaRPr lang="en-US" sz="1600" dirty="0"/>
          </a:p>
          <a:p>
            <a:r>
              <a:rPr lang="en-US" sz="1600" dirty="0">
                <a:solidFill>
                  <a:srgbClr val="12252B"/>
                </a:solidFill>
              </a:rPr>
              <a:t>GitHub: https://github.com/Jecsen-uni/HabitFlow</a:t>
            </a:r>
            <a:endParaRPr lang="en-US" sz="1600" dirty="0"/>
          </a:p>
        </p:txBody>
      </p:sp>
      <p:sp>
        <p:nvSpPr>
          <p:cNvPr id="6" name="Text 4"/>
          <p:cNvSpPr/>
          <p:nvPr/>
        </p:nvSpPr>
        <p:spPr>
          <a:xfrm>
            <a:off x="11109960" y="6355080"/>
            <a:ext cx="457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D7078"/>
                </a:solidFill>
              </a:rPr>
              <a:t>15</a:t>
            </a:r>
            <a:endParaRPr lang="en-US" sz="9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4F8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087E8B"/>
          </a:solidFill>
          <a:ln w="12700">
            <a:solidFill>
              <a:srgbClr val="087E8B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94360" y="347472"/>
            <a:ext cx="23774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087E8B"/>
                </a:solidFill>
              </a:rPr>
              <a:t>HabitFlow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594360" y="667512"/>
            <a:ext cx="74980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2252B"/>
                </a:solidFill>
              </a:rPr>
              <a:t>Lessons Learned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77240" y="1417320"/>
            <a:ext cx="8778240" cy="438912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ctr">
            <a:normAutofit/>
          </a:bodyPr>
          <a:lstStyle/>
          <a:p>
            <a:r>
              <a:rPr lang="en-US" sz="1700" dirty="0">
                <a:solidFill>
                  <a:srgbClr val="12252B"/>
                </a:solidFill>
              </a:rPr>
              <a:t>Check scoring criteria early because framework requirements matter.</a:t>
            </a:r>
            <a:endParaRPr lang="en-US" sz="1700" dirty="0"/>
          </a:p>
          <a:p>
            <a:r>
              <a:rPr lang="en-US" sz="1700" dirty="0">
                <a:solidFill>
                  <a:srgbClr val="12252B"/>
                </a:solidFill>
              </a:rPr>
              <a:t>Clean Architecture made migration to NestJS manageable.</a:t>
            </a:r>
            <a:endParaRPr lang="en-US" sz="1700" dirty="0"/>
          </a:p>
          <a:p>
            <a:r>
              <a:rPr lang="en-US" sz="1700" dirty="0">
                <a:solidFill>
                  <a:srgbClr val="12252B"/>
                </a:solidFill>
              </a:rPr>
              <a:t>Repository Pattern made service tests independent from PostgreSQL.</a:t>
            </a:r>
            <a:endParaRPr lang="en-US" sz="1700" dirty="0"/>
          </a:p>
          <a:p>
            <a:r>
              <a:rPr lang="en-US" sz="1700" dirty="0">
                <a:solidFill>
                  <a:srgbClr val="12252B"/>
                </a:solidFill>
              </a:rPr>
              <a:t>Microservice-style boundaries can be applied even in one deployable service.</a:t>
            </a:r>
            <a:endParaRPr lang="en-US" sz="1700" dirty="0"/>
          </a:p>
          <a:p>
            <a:r>
              <a:rPr lang="en-US" sz="1700" dirty="0">
                <a:solidFill>
                  <a:srgbClr val="12252B"/>
                </a:solidFill>
              </a:rPr>
              <a:t>Documentation should explain both theory and where it appears in code.</a:t>
            </a:r>
            <a:endParaRPr lang="en-US" sz="1700" dirty="0"/>
          </a:p>
        </p:txBody>
      </p:sp>
      <p:sp>
        <p:nvSpPr>
          <p:cNvPr id="6" name="Text 4"/>
          <p:cNvSpPr/>
          <p:nvPr/>
        </p:nvSpPr>
        <p:spPr>
          <a:xfrm>
            <a:off x="11109960" y="6355080"/>
            <a:ext cx="457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D7078"/>
                </a:solidFill>
              </a:rPr>
              <a:t>16</a:t>
            </a:r>
            <a:endParaRPr lang="en-US" sz="9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10293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087E8B"/>
          </a:solidFill>
          <a:ln w="12700">
            <a:solidFill>
              <a:srgbClr val="087E8B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685800" y="1371600"/>
            <a:ext cx="64008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FFFFFF"/>
                </a:solidFill>
              </a:rPr>
              <a:t>Conclusion</a:t>
            </a:r>
            <a:endParaRPr lang="en-US" sz="3400" dirty="0"/>
          </a:p>
        </p:txBody>
      </p:sp>
      <p:sp>
        <p:nvSpPr>
          <p:cNvPr id="4" name="Text 2"/>
          <p:cNvSpPr/>
          <p:nvPr/>
        </p:nvSpPr>
        <p:spPr>
          <a:xfrm>
            <a:off x="713232" y="2194560"/>
            <a:ext cx="804672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000" dirty="0">
                <a:solidFill>
                  <a:srgbClr val="D5EEF1"/>
                </a:solidFill>
              </a:rPr>
              <a:t>HabitFlow demonstrates a practical NestJS backend with Clean Architecture, microservice-style boundaries, design patterns, tests, documentation, and a working frontend demo.</a:t>
            </a:r>
            <a:endParaRPr lang="en-US" sz="2000" dirty="0"/>
          </a:p>
        </p:txBody>
      </p:sp>
      <p:sp>
        <p:nvSpPr>
          <p:cNvPr id="5" name="Text 3"/>
          <p:cNvSpPr/>
          <p:nvPr/>
        </p:nvSpPr>
        <p:spPr>
          <a:xfrm>
            <a:off x="713232" y="4069080"/>
            <a:ext cx="69494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9BF4FF"/>
                </a:solidFill>
              </a:rPr>
              <a:t>GitHub: https://github.com/Jecsen-uni/HabitFlow</a:t>
            </a:r>
            <a:endParaRPr lang="en-US" sz="1500" dirty="0"/>
          </a:p>
        </p:txBody>
      </p:sp>
      <p:sp>
        <p:nvSpPr>
          <p:cNvPr id="6" name="Text 4"/>
          <p:cNvSpPr/>
          <p:nvPr/>
        </p:nvSpPr>
        <p:spPr>
          <a:xfrm>
            <a:off x="11109960" y="6355080"/>
            <a:ext cx="457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D7078"/>
                </a:solidFill>
              </a:rPr>
              <a:t>17</a:t>
            </a:r>
            <a:endParaRPr lang="en-US" sz="9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ptos Display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17</Slides>
  <Notes>17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17</vt:i4>
      </vt:variant>
    </vt:vector>
  </HeadingPairs>
  <TitlesOfParts>
    <vt:vector size="20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</vt:vector>
  </TitlesOfParts>
  <Company>HabitFlow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HabitFlow Architecture Presentation</dc:title>
  <dc:subject>Software Architecture Project</dc:subject>
  <dc:creator>HabitFlow Team</dc:creator>
  <cp:lastModifiedBy>HabitFlow Team</cp:lastModifiedBy>
  <cp:revision>1</cp:revision>
  <dcterms:created xsi:type="dcterms:W3CDTF">2026-06-07T16:20:55Z</dcterms:created>
  <dcterms:modified xsi:type="dcterms:W3CDTF">2026-06-07T16:20:55Z</dcterms:modified>
</cp:coreProperties>
</file>