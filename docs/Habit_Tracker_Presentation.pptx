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be79298954f7a" /><Relationship Type="http://schemas.openxmlformats.org/officeDocument/2006/relationships/extended-properties" Target="/docProps/app.xml" Id="R0bc8fc42e0334b93" /><Relationship Type="http://schemas.openxmlformats.org/officeDocument/2006/relationships/officeDocument" Target="/ppt/presentation.xml" Id="R202bdd8acb7141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23cfcf59214343"/>
  </p:sldMasterIdLst>
  <p:notesMasterIdLst>
    <p:notesMasterId xmlns:r="http://schemas.openxmlformats.org/officeDocument/2006/relationships" r:id="R03b329427e9e4626"/>
  </p:notesMasterIdLst>
  <p:sldIdLst>
    <p:sldId xmlns:r="http://schemas.openxmlformats.org/officeDocument/2006/relationships" id="256" r:id="R228913d26c7b4804"/>
    <p:sldId xmlns:r="http://schemas.openxmlformats.org/officeDocument/2006/relationships" id="257" r:id="Rd9e2760877bb44e1"/>
    <p:sldId xmlns:r="http://schemas.openxmlformats.org/officeDocument/2006/relationships" id="258" r:id="Rd6ba567b94524af0"/>
    <p:sldId xmlns:r="http://schemas.openxmlformats.org/officeDocument/2006/relationships" id="259" r:id="R91ac25b76ed348d6"/>
    <p:sldId xmlns:r="http://schemas.openxmlformats.org/officeDocument/2006/relationships" id="260" r:id="R133acbc0617b4884"/>
    <p:sldId xmlns:r="http://schemas.openxmlformats.org/officeDocument/2006/relationships" id="261" r:id="R2da617257470482b"/>
    <p:sldId xmlns:r="http://schemas.openxmlformats.org/officeDocument/2006/relationships" id="262" r:id="R0f4414f0b56e41a2"/>
    <p:sldId xmlns:r="http://schemas.openxmlformats.org/officeDocument/2006/relationships" id="263" r:id="R4ae2c9a4e8a04073"/>
    <p:sldId xmlns:r="http://schemas.openxmlformats.org/officeDocument/2006/relationships" id="264" r:id="R91935c8db7874201"/>
    <p:sldId xmlns:r="http://schemas.openxmlformats.org/officeDocument/2006/relationships" id="265" r:id="Ra814dddcf6914a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99b79e21d4d43" /><Relationship Type="http://schemas.openxmlformats.org/officeDocument/2006/relationships/slideMaster" Target="/ppt/slideMasters/slideMaster1.xml" Id="R2a23cfcf59214343" /><Relationship Type="http://schemas.openxmlformats.org/officeDocument/2006/relationships/notesMaster" Target="/ppt/notesMasters/notesMaster1.xml" Id="R03b329427e9e4626" /><Relationship Type="http://schemas.openxmlformats.org/officeDocument/2006/relationships/presProps" Target="/ppt/presProps.xml" Id="Rd4cd2561b3ce479b" /><Relationship Type="http://schemas.openxmlformats.org/officeDocument/2006/relationships/viewProps" Target="/ppt/viewProps.xml" Id="R442798782cfd4cbd" /><Relationship Type="http://schemas.openxmlformats.org/officeDocument/2006/relationships/tableStyles" Target="/ppt/tableStyles.xml" Id="R50b3f8d5e10344ae" /><Relationship Type="http://schemas.openxmlformats.org/officeDocument/2006/relationships/slide" Target="/ppt/slides/slide1.xml" Id="R228913d26c7b4804" /><Relationship Type="http://schemas.openxmlformats.org/officeDocument/2006/relationships/slide" Target="/ppt/slides/slide2.xml" Id="Rd9e2760877bb44e1" /><Relationship Type="http://schemas.openxmlformats.org/officeDocument/2006/relationships/slide" Target="/ppt/slides/slide3.xml" Id="Rd6ba567b94524af0" /><Relationship Type="http://schemas.openxmlformats.org/officeDocument/2006/relationships/slide" Target="/ppt/slides/slide4.xml" Id="R91ac25b76ed348d6" /><Relationship Type="http://schemas.openxmlformats.org/officeDocument/2006/relationships/slide" Target="/ppt/slides/slide5.xml" Id="R133acbc0617b4884" /><Relationship Type="http://schemas.openxmlformats.org/officeDocument/2006/relationships/slide" Target="/ppt/slides/slide6.xml" Id="R2da617257470482b" /><Relationship Type="http://schemas.openxmlformats.org/officeDocument/2006/relationships/slide" Target="/ppt/slides/slide7.xml" Id="R0f4414f0b56e41a2" /><Relationship Type="http://schemas.openxmlformats.org/officeDocument/2006/relationships/slide" Target="/ppt/slides/slide8.xml" Id="R4ae2c9a4e8a04073" /><Relationship Type="http://schemas.openxmlformats.org/officeDocument/2006/relationships/slide" Target="/ppt/slides/slide9.xml" Id="R91935c8db7874201" /><Relationship Type="http://schemas.openxmlformats.org/officeDocument/2006/relationships/slide" Target="/ppt/slides/slide10.xml" Id="Ra814dddcf691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43cf0a0b18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d8c6c2a874941" /><Relationship Type="http://schemas.openxmlformats.org/officeDocument/2006/relationships/notesMaster" Target="/ppt/notesMasters/notesMaster1.xml" Id="R46a8e694f2b5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e3456b5ec64342" /><Relationship Type="http://schemas.openxmlformats.org/officeDocument/2006/relationships/notesMaster" Target="/ppt/notesMasters/notesMaster1.xml" Id="R5fe917bcd54340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39debda91e440d" /><Relationship Type="http://schemas.openxmlformats.org/officeDocument/2006/relationships/notesMaster" Target="/ppt/notesMasters/notesMaster1.xml" Id="R534cca2d7c90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6ebfca2d454c17" /><Relationship Type="http://schemas.openxmlformats.org/officeDocument/2006/relationships/notesMaster" Target="/ppt/notesMasters/notesMaster1.xml" Id="R39481c86aecc48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39e5c919d94ada" /><Relationship Type="http://schemas.openxmlformats.org/officeDocument/2006/relationships/notesMaster" Target="/ppt/notesMasters/notesMaster1.xml" Id="R1ae7416aa55a4c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3c1e5f0ace4bf3" /><Relationship Type="http://schemas.openxmlformats.org/officeDocument/2006/relationships/notesMaster" Target="/ppt/notesMasters/notesMaster1.xml" Id="R89044c48567a4f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9d497c27d4102" /><Relationship Type="http://schemas.openxmlformats.org/officeDocument/2006/relationships/notesMaster" Target="/ppt/notesMasters/notesMaster1.xml" Id="R38bb527830484e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ddd80617c4c45" /><Relationship Type="http://schemas.openxmlformats.org/officeDocument/2006/relationships/notesMaster" Target="/ppt/notesMasters/notesMaster1.xml" Id="Ra704f0dc71b7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ddb43e3f124a9e" /><Relationship Type="http://schemas.openxmlformats.org/officeDocument/2006/relationships/notesMaster" Target="/ppt/notesMasters/notesMaster1.xml" Id="R047a51ec5d0640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c96c95eaa74262" /><Relationship Type="http://schemas.openxmlformats.org/officeDocument/2006/relationships/notesMaster" Target="/ppt/notesMasters/notesMaster1.xml" Id="Rb3f635e50cc0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65095d506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03dcac81454df1" /><Relationship Type="http://schemas.openxmlformats.org/officeDocument/2006/relationships/slideLayout" Target="/ppt/slideLayouts/slideLayout1.xml" Id="Reee4a7782cea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4a7782cea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9f1ea6a334ef1" /><Relationship Type="http://schemas.openxmlformats.org/officeDocument/2006/relationships/notesSlide" Target="/ppt/notesSlides/notesSlide1.xml" Id="R2ec70b9c88f242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4f1f3147e46e1" /><Relationship Type="http://schemas.openxmlformats.org/officeDocument/2006/relationships/notesSlide" Target="/ppt/notesSlides/notesSlide2.xml" Id="Red36d30618f04b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a6d8743f64eb9" /><Relationship Type="http://schemas.openxmlformats.org/officeDocument/2006/relationships/notesSlide" Target="/ppt/notesSlides/notesSlide3.xml" Id="R8808dd21a3b641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c0aeffa54461f" /><Relationship Type="http://schemas.openxmlformats.org/officeDocument/2006/relationships/notesSlide" Target="/ppt/notesSlides/notesSlide4.xml" Id="R1ec691d5393a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413bde75c41a1" /><Relationship Type="http://schemas.openxmlformats.org/officeDocument/2006/relationships/notesSlide" Target="/ppt/notesSlides/notesSlide5.xml" Id="R671961b8ed8d4b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e6e8a9564755" /><Relationship Type="http://schemas.openxmlformats.org/officeDocument/2006/relationships/notesSlide" Target="/ppt/notesSlides/notesSlide6.xml" Id="R81b4c83f417342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f5d0a573b43de" /><Relationship Type="http://schemas.openxmlformats.org/officeDocument/2006/relationships/notesSlide" Target="/ppt/notesSlides/notesSlide7.xml" Id="Rda3b93fcaae84c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d4f4a1c164b54" /><Relationship Type="http://schemas.openxmlformats.org/officeDocument/2006/relationships/notesSlide" Target="/ppt/notesSlides/notesSlide8.xml" Id="R838ba22e6ffd40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794c1f0f94454" /><Relationship Type="http://schemas.openxmlformats.org/officeDocument/2006/relationships/notesSlide" Target="/ppt/notesSlides/notesSlide9.xml" Id="Rfc4a6a3e9e6f42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27a1f084e4023" /><Relationship Type="http://schemas.openxmlformats.org/officeDocument/2006/relationships/notesSlide" Target="/ppt/notesSlides/notesSlide10.xml" Id="Rcda78f1ff17844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4FEDD0-0AD8-4BF8-971C-1971C4F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3C176-CA07-41F5-AA20-0B3D1D4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Habit Tracker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E7D38-67D9-4C7D-9C8A-201FD83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Backend-focused software architecture project using Flutter, Express.js, and PostgreSQL.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3A402-761E-4D2E-80A0-4BCF3941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687CF-6B5B-4B42-BC80-F58774E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Clean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17A7A-902E-4907-A13C-EDA7D658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Architecture separates business rules from frameworks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A9F60-FD70-479B-A3D7-BDF56764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861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E9260-197C-4982-8109-DEAFCA7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EBB46-AC52-4258-B599-907F633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29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Design patterns made explicit in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7EF5C-0285-4F72-9697-1529B185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26BD5-2E82-4C0D-9B04-50911222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4AAB4-246B-43D9-AF57-9D551E2F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29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Express backend is the primary project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7B887-1E0E-459D-A764-66CDDD8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Flutter + Express.js + PostgreSQL</a:t>
            </a:r>
          </a:p>
        </p:txBody>
      </p:sp>
    </p:spTree>
    <p:extLst>
      <p:ext uri="{BB962C8B-B14F-4D97-AF65-F5344CB8AC3E}">
        <p14:creationId xmlns:p14="http://schemas.microsoft.com/office/powerpoint/2010/main" val="2065475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4896B-61BA-4408-8DDF-7A9C0609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EA9CC-FC60-4376-A3BF-1797D19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02 /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AF7A3-E854-49F6-98BF-DFCF127D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Habit tracking needs simple workflows and reliable progress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6C0FC-9B66-4469-B9C0-7FB930E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685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Users need to define recurring habits.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Each completion should be recorded once per date.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Progress should be available through clear API endpoints.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The project must demonstrate architecture, not only CRUD.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FB583-D5BC-443B-BF9F-D17EE52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- Main user: student or professional building routine consistency.</a:t>
            </a:r>
          </a:p>
          <a:p xmlns:a="http://schemas.openxmlformats.org/drawingml/2006/main">
            <a:pPr algn="l">
              <a:defRPr sz="1650" b="0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- Backend priority: maintainable, testable service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0F4E2-2B5F-447B-A3AA-EE0FCA5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02</a:t>
            </a:r>
          </a:p>
        </p:txBody>
      </p:sp>
    </p:spTree>
    <p:extLst>
      <p:ext uri="{BB962C8B-B14F-4D97-AF65-F5344CB8AC3E}">
        <p14:creationId xmlns:p14="http://schemas.microsoft.com/office/powerpoint/2010/main" val="3909701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F6AE7-4624-43FA-8601-8EDBBFC9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30F40-0394-4A99-8709-EE960E7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03 /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6FC80-D752-4176-9675-6572C3D1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The app keeps the frontend simple while the backend carries the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5DD2-B70D-430B-A23E-2D81BDA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1229D-9496-4FDF-84CC-73474D2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Create Habit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6151-7FAA-4B4E-913E-5AE554CB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Title, frequency, target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67638-C504-4636-9383-B10D833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A9233-822E-4652-BA73-102A6E9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5F5C"/>
                </a:solidFill>
                <a:latin typeface="Aptos"/>
                <a:ea typeface="Aptos"/>
                <a:cs typeface="Aptos"/>
              </a:defRPr>
            </a:pPr>
            <a:r>
              <a:t>Complete Habit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A342-B40D-4D19-8B40-90CC914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956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One log per habit per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D966A-9E69-4485-9151-B4003F3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DC5C3-ADC5-4C83-B752-6E6AFBB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BAE7F"/>
                </a:solidFill>
                <a:latin typeface="Aptos"/>
                <a:ea typeface="Aptos"/>
                <a:cs typeface="Aptos"/>
              </a:defRPr>
            </a:pPr>
            <a:r>
              <a:t>Review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56FDB-47B7-45A7-9F55-5763C26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Stats endpoint calculates completion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C64BE-9287-47F2-9F1E-20AA4901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Simple Flutter screen: list habits, add habit, mark complete.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7C778-F9D5-4B2F-8272-5B302B1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03</a:t>
            </a:r>
          </a:p>
        </p:txBody>
      </p:sp>
    </p:spTree>
    <p:extLst>
      <p:ext uri="{BB962C8B-B14F-4D97-AF65-F5344CB8AC3E}">
        <p14:creationId xmlns:p14="http://schemas.microsoft.com/office/powerpoint/2010/main" val="4015357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4FB47-8F82-4C0E-922A-60E4935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4DC49-1C3C-4C77-BA2F-8544A28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04 /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3F467-4B4C-4E2D-9B5F-DCEA954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Each technology has one clear responsibility in the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2E28C-B592-4CED-857A-596606F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2C779-6A81-4549-AEED-8E29BBB9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03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Flutter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3D24F-2312-4FA5-BFE3-25EB7461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5F5C"/>
          </a:solidFill>
          <a:ln xmlns:a="http://schemas.openxmlformats.org/drawingml/2006/main" w="9525">
            <a:solidFill>
              <a:srgbClr val="F25F5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CFA5B-CF76-4B9F-B55F-F258358F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03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Express.js + 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13D99-2521-47D4-B3FB-2717FDE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BAE7F"/>
          </a:solidFill>
          <a:ln xmlns:a="http://schemas.openxmlformats.org/drawingml/2006/main" w="9525">
            <a:solidFill>
              <a:srgbClr val="7BAE7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17D68-F7C1-4B83-8B42-7EA3A72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64EE2-7290-4E7C-8669-32BFBE3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Mobile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6F830-05D4-4183-A6AB-799BEDA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766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HTTP API, validation, use cases, dependency injection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545A3-0210-4D35-BA00-F126260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766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Relational storage for habits and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23919-A31A-43E9-9BB7-E45F9E9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The backend is designed so UI and database details do not leak into business rules.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39518-653B-41AA-AA4F-6AC52B8B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04</a:t>
            </a:r>
          </a:p>
        </p:txBody>
      </p:sp>
    </p:spTree>
    <p:extLst>
      <p:ext uri="{BB962C8B-B14F-4D97-AF65-F5344CB8AC3E}">
        <p14:creationId xmlns:p14="http://schemas.microsoft.com/office/powerpoint/2010/main" val="1590296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5ADEA-B666-4E44-BDA5-F47DEC02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93359-1442-449C-B462-8281F2A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05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F6B93-C242-4D1F-B386-1B891C41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Clean Architecture keeps business logic independent from Express and 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629CB-EDDB-41F2-8BE4-97C33AE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40E3F-08BB-4EB1-96DF-9C62363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8C360-CE9F-4CF5-84FE-CAC828E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Controllers, routes, validators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22F43-7FE2-48F9-A1CF-2178EB4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1465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5F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6EF3E-6C49-447F-9C36-EAA7F14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F5C"/>
                </a:solidFill>
                <a:latin typeface="Aptos"/>
                <a:ea typeface="Aptos"/>
                <a:cs typeface="Aptos"/>
              </a:defRPr>
            </a:pPr>
            <a: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098B6-7552-43B4-9698-1ED79B4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HabitService use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2923E-F1A6-4EBE-949E-9F69970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FD045-2904-4B82-8200-CF9F0C5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t>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35593-A60E-4638-A8B3-C07CA41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Entities and repository interfaces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4607C-A9AC-4110-BF7A-36A8A47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AE7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5CF2E-ABB2-4527-A366-B73A15D6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AE7F"/>
                </a:solidFill>
                <a:latin typeface="Aptos"/>
                <a:ea typeface="Aptos"/>
                <a:cs typeface="Aptos"/>
              </a:defRPr>
            </a:pPr>
            <a: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633D2-4942-4159-B69E-05422BD0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053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PostgreSQL repository and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F5838-DB88-4731-88CD-90A8B4F4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05</a:t>
            </a:r>
          </a:p>
        </p:txBody>
      </p:sp>
    </p:spTree>
    <p:extLst>
      <p:ext uri="{BB962C8B-B14F-4D97-AF65-F5344CB8AC3E}">
        <p14:creationId xmlns:p14="http://schemas.microsoft.com/office/powerpoint/2010/main" val="168855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C7345-9247-416A-B49E-73076F81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4349C-3504-4FDF-927A-0165357E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06 /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4CFF5-7E19-4C46-88FB-FE35E9A6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The design patterns are implemented in concrete backend 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B574A-AB5C-470C-B4D1-2E63ACCF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933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Repository Pattern: HabitRepository abstracts storage.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Dependency Injection: HabitService receives repository dependency.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Controller Pattern: HabitController maps HTTP to use cases.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DTO and Validation Pattern: Zod schemas validate request bodies.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Entity Pattern: Habit and HabitLog enforce domain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159EB-EC5D-49C2-BC9C-29411B17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06</a:t>
            </a:r>
          </a:p>
        </p:txBody>
      </p:sp>
    </p:spTree>
    <p:extLst>
      <p:ext uri="{BB962C8B-B14F-4D97-AF65-F5344CB8AC3E}">
        <p14:creationId xmlns:p14="http://schemas.microsoft.com/office/powerpoint/2010/main" val="795922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AAD21-BC17-4C28-8BBD-6CEE926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433C2-05A1-4E9D-9985-CC68E622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07 /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2BDB9-6CE0-4E82-947B-D135C11A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The schema is small, normalized, and guarded against duplicate completions.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AF5CB-56BB-4398-A225-1F442014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191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E1B07-DD51-43B5-8BAD-6921C82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habits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72DAB-7ED4-462C-A5FD-DA2B4E9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id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title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description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frequency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target_count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timestamps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10E8-9E55-4B82-9329-33C6BE6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191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5F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8EBD5-EE79-4FE1-9EA4-6B8BCBFB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5F5C"/>
                </a:solidFill>
                <a:latin typeface="Aptos"/>
                <a:ea typeface="Aptos"/>
                <a:cs typeface="Aptos"/>
              </a:defRPr>
            </a:pPr>
            <a:r>
              <a:t>habit_logs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DAD3C-8817-4AAB-A841-DF1C2F4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7050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id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habit_id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completed_on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note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created_at</a:t>
            </a:r>
          </a:p>
          <a:p xmlns:a="http://schemas.openxmlformats.org/drawingml/2006/main">
            <a:pPr algn="l">
              <a:defRPr sz="1575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 unique(habit_id, completed_on)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3F28E-95B0-4745-9734-AF66756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07</a:t>
            </a:r>
          </a:p>
        </p:txBody>
      </p:sp>
    </p:spTree>
    <p:extLst>
      <p:ext uri="{BB962C8B-B14F-4D97-AF65-F5344CB8AC3E}">
        <p14:creationId xmlns:p14="http://schemas.microsoft.com/office/powerpoint/2010/main" val="19548988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B64C2-46DA-46B4-9F9A-394BBE2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712ED-775A-4736-94C7-D7F3AA06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08 /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86C41-67ED-47B6-8F93-8F9D85BC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The API exposes focused endpoints for habit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2EEF4-BD59-47BA-BDDA-FBD5451C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0B810-6023-4D40-BA5A-7124F871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/api/habits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201B5-61D0-433C-B0D0-AA021740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List habits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FC52F-8196-4FED-9BFB-1B302A3C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EE170-9570-49C7-8835-FAFA025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/api/habits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7364-269E-4E6C-BC37-105AF5B1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Create habit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642F3-4BC8-483C-B1BA-E931CC8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PATCH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6222F-E9FC-4140-89BD-9A6156C1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76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/api/habits/:id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3598-6635-4D79-933A-1083033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Update habit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6F6F9-D224-4499-9E1B-B72FCFD8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34BAB-6FD4-4EA9-93C0-DB3DB0C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67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/api/habits/:id/logs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846BE-7A78-4D3C-9E50-654EBDF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Mark completed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EF5F4-082D-42CA-9F36-ABC19934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6F7BD-AF91-40A9-B36F-B186474A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57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/api/habits/stats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1A8DB-BBCF-45F8-AE5B-29E8A93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Progress stats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2DB23-89D4-4D11-8D93-E2BD3ABB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08</a:t>
            </a:r>
          </a:p>
        </p:txBody>
      </p:sp>
    </p:spTree>
    <p:extLst>
      <p:ext uri="{BB962C8B-B14F-4D97-AF65-F5344CB8AC3E}">
        <p14:creationId xmlns:p14="http://schemas.microsoft.com/office/powerpoint/2010/main" val="8408201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FFCA4-9735-4EF5-A264-380614A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E865-C029-4912-BD10-6269E4E6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t>09 /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BDA3A-F4DA-479D-951C-26A8F8D1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The architecture makes the backend easier to test and extend.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52753-E125-473D-A7BC-5C6F1A3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876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Services can be tested with mocked repository interfaces.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SQL is isolated in PostgresHabitRepository.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HTTP validation happens before application logic.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A future auth layer can be added without rewriting domain entities.</a:t>
            </a:r>
          </a:p>
          <a:p xmlns:a="http://schemas.openxmlformats.org/drawingml/2006/main">
            <a:pPr algn="l">
              <a:defRPr sz="1650" b="0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- PostgreSQL migration documents the data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6D80B-F5C9-47C6-A8A0-F67DF6E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09</a:t>
            </a:r>
          </a:p>
        </p:txBody>
      </p:sp>
    </p:spTree>
    <p:extLst>
      <p:ext uri="{BB962C8B-B14F-4D97-AF65-F5344CB8AC3E}">
        <p14:creationId xmlns:p14="http://schemas.microsoft.com/office/powerpoint/2010/main" val="5200140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C2F1C-2A88-4EDB-A01E-CFAB254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0A43C-6E48-43ED-8A5B-785F7E7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6AD8E-59FE-4AA2-8522-ACFD288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The first implementation pass delivers a working backend codebase, a simple Flutter client, documentation, and this presentation deliverable.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D957-7D1D-4C3D-9D3C-FF7BDABE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667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A7D3-2103-4224-8C24-74C0008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D3B17-DAA9-46E2-9ECA-758C2F0E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TypeScript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08C05-47DF-4FF5-8314-A65667B1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667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E5863-5968-439B-830D-4397F1CD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81698-D986-4744-8C60-7FB7C3F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Jest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D90A6-C73D-4670-990F-41CDE881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2667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DA08A-C753-4507-8C3D-5411792F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86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13B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452D7-CEC0-4E03-A67B-C6434B0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GitHub auth and 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3D821-B293-4F4E-A74F-52E937E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A"/>
                </a:solidFill>
                <a:latin typeface="Aptos"/>
                <a:ea typeface="Aptos"/>
                <a:cs typeface="Aptos"/>
              </a:defRPr>
            </a:pPr>
            <a:r>
              <a:t>Habit Tracker Architecture Project | 10</a:t>
            </a:r>
          </a:p>
        </p:txBody>
      </p:sp>
    </p:spTree>
    <p:extLst>
      <p:ext uri="{BB962C8B-B14F-4D97-AF65-F5344CB8AC3E}">
        <p14:creationId xmlns:p14="http://schemas.microsoft.com/office/powerpoint/2010/main" val="2061520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2026-06-06T01:48:17.6960000Z</dcterms:created>
  <dcterms:modified xsi:type="dcterms:W3CDTF">2026-06-06T01:48:17.6960000Z</dcterms:modified>
</coreProperties>
</file>